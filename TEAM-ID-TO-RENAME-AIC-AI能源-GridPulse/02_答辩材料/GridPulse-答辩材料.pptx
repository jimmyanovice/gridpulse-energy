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022c0c1c434fcf" /><Relationship Type="http://schemas.openxmlformats.org/officeDocument/2006/relationships/extended-properties" Target="/docProps/app.xml" Id="R74f197f05e2249a9" /><Relationship Type="http://schemas.openxmlformats.org/officeDocument/2006/relationships/officeDocument" Target="/ppt/presentation.xml" Id="R86d885e4425b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4d5884a4ac453e"/>
  </p:sldMasterIdLst>
  <p:notesMasterIdLst>
    <p:notesMasterId xmlns:r="http://schemas.openxmlformats.org/officeDocument/2006/relationships" r:id="Rd69eaea44aa54532"/>
  </p:notesMasterIdLst>
  <p:sldIdLst>
    <p:sldId xmlns:r="http://schemas.openxmlformats.org/officeDocument/2006/relationships" id="256" r:id="R67fd77cf0a2b47d0"/>
    <p:sldId xmlns:r="http://schemas.openxmlformats.org/officeDocument/2006/relationships" id="257" r:id="Rf570d79920804f72"/>
    <p:sldId xmlns:r="http://schemas.openxmlformats.org/officeDocument/2006/relationships" id="258" r:id="R622e65efdec2453c"/>
    <p:sldId xmlns:r="http://schemas.openxmlformats.org/officeDocument/2006/relationships" id="259" r:id="Rc592d2715de14a6f"/>
    <p:sldId xmlns:r="http://schemas.openxmlformats.org/officeDocument/2006/relationships" id="260" r:id="Rb23850481a5d4e1d"/>
    <p:sldId xmlns:r="http://schemas.openxmlformats.org/officeDocument/2006/relationships" id="261" r:id="R1575a97c4a894ca4"/>
    <p:sldId xmlns:r="http://schemas.openxmlformats.org/officeDocument/2006/relationships" id="262" r:id="R6cd4a33370bd419b"/>
    <p:sldId xmlns:r="http://schemas.openxmlformats.org/officeDocument/2006/relationships" id="263" r:id="Rbb91fb036e09455c"/>
    <p:sldId xmlns:r="http://schemas.openxmlformats.org/officeDocument/2006/relationships" id="264" r:id="Rce32197040174216"/>
    <p:sldId xmlns:r="http://schemas.openxmlformats.org/officeDocument/2006/relationships" id="265" r:id="Rf207f3cdd8234093"/>
    <p:sldId xmlns:r="http://schemas.openxmlformats.org/officeDocument/2006/relationships" id="266" r:id="R446b7083fae2454b"/>
    <p:sldId xmlns:r="http://schemas.openxmlformats.org/officeDocument/2006/relationships" id="267" r:id="R41ff31313b6a4568"/>
    <p:sldId xmlns:r="http://schemas.openxmlformats.org/officeDocument/2006/relationships" id="268" r:id="R6d3c376f233a459c"/>
    <p:sldId xmlns:r="http://schemas.openxmlformats.org/officeDocument/2006/relationships" id="269" r:id="Rb2828e1a3e1e4c9d"/>
    <p:sldId xmlns:r="http://schemas.openxmlformats.org/officeDocument/2006/relationships" id="270" r:id="R60d3bdb2bb5447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1e237db5344f1" /><Relationship Type="http://schemas.openxmlformats.org/officeDocument/2006/relationships/slideMaster" Target="/ppt/slideMasters/slideMaster1.xml" Id="R294d5884a4ac453e" /><Relationship Type="http://schemas.openxmlformats.org/officeDocument/2006/relationships/notesMaster" Target="/ppt/notesMasters/notesMaster1.xml" Id="Rd69eaea44aa54532" /><Relationship Type="http://schemas.openxmlformats.org/officeDocument/2006/relationships/presProps" Target="/ppt/presProps.xml" Id="Rc48fccc584fb48df" /><Relationship Type="http://schemas.openxmlformats.org/officeDocument/2006/relationships/tableStyles" Target="/ppt/tableStyles.xml" Id="Ra3e35ad8f3084adc" /><Relationship Type="http://schemas.openxmlformats.org/officeDocument/2006/relationships/slide" Target="/ppt/slides/slide1.xml" Id="R67fd77cf0a2b47d0" /><Relationship Type="http://schemas.openxmlformats.org/officeDocument/2006/relationships/slide" Target="/ppt/slides/slide2.xml" Id="Rf570d79920804f72" /><Relationship Type="http://schemas.openxmlformats.org/officeDocument/2006/relationships/slide" Target="/ppt/slides/slide3.xml" Id="R622e65efdec2453c" /><Relationship Type="http://schemas.openxmlformats.org/officeDocument/2006/relationships/slide" Target="/ppt/slides/slide4.xml" Id="Rc592d2715de14a6f" /><Relationship Type="http://schemas.openxmlformats.org/officeDocument/2006/relationships/slide" Target="/ppt/slides/slide5.xml" Id="Rb23850481a5d4e1d" /><Relationship Type="http://schemas.openxmlformats.org/officeDocument/2006/relationships/slide" Target="/ppt/slides/slide6.xml" Id="R1575a97c4a894ca4" /><Relationship Type="http://schemas.openxmlformats.org/officeDocument/2006/relationships/slide" Target="/ppt/slides/slide7.xml" Id="R6cd4a33370bd419b" /><Relationship Type="http://schemas.openxmlformats.org/officeDocument/2006/relationships/slide" Target="/ppt/slides/slide8.xml" Id="Rbb91fb036e09455c" /><Relationship Type="http://schemas.openxmlformats.org/officeDocument/2006/relationships/slide" Target="/ppt/slides/slide9.xml" Id="Rce32197040174216" /><Relationship Type="http://schemas.openxmlformats.org/officeDocument/2006/relationships/slide" Target="/ppt/slides/slide10.xml" Id="Rf207f3cdd8234093" /><Relationship Type="http://schemas.openxmlformats.org/officeDocument/2006/relationships/slide" Target="/ppt/slides/slide11.xml" Id="R446b7083fae2454b" /><Relationship Type="http://schemas.openxmlformats.org/officeDocument/2006/relationships/slide" Target="/ppt/slides/slide12.xml" Id="R41ff31313b6a4568" /><Relationship Type="http://schemas.openxmlformats.org/officeDocument/2006/relationships/slide" Target="/ppt/slides/slide13.xml" Id="R6d3c376f233a459c" /><Relationship Type="http://schemas.openxmlformats.org/officeDocument/2006/relationships/slide" Target="/ppt/slides/slide14.xml" Id="Rb2828e1a3e1e4c9d" /><Relationship Type="http://schemas.openxmlformats.org/officeDocument/2006/relationships/slide" Target="/ppt/slides/slide15.xml" Id="R60d3bdb2bb54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cf8f0a069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9eb84bc6b94ecf" /><Relationship Type="http://schemas.openxmlformats.org/officeDocument/2006/relationships/notesMaster" Target="/ppt/notesMasters/notesMaster1.xml" Id="R93245117b81d41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fd149fff9a4fd7" /><Relationship Type="http://schemas.openxmlformats.org/officeDocument/2006/relationships/notesMaster" Target="/ppt/notesMasters/notesMaster1.xml" Id="Re83ab9141c81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4f24dcfe74107" /><Relationship Type="http://schemas.openxmlformats.org/officeDocument/2006/relationships/notesMaster" Target="/ppt/notesMasters/notesMaster1.xml" Id="Rc52225dec3144e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31b6e4bd5a410f" /><Relationship Type="http://schemas.openxmlformats.org/officeDocument/2006/relationships/notesMaster" Target="/ppt/notesMasters/notesMaster1.xml" Id="R87aca20dd084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8244fccb30401f" /><Relationship Type="http://schemas.openxmlformats.org/officeDocument/2006/relationships/notesMaster" Target="/ppt/notesMasters/notesMaster1.xml" Id="Rcc0cad94be9240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0795dedc7d4437" /><Relationship Type="http://schemas.openxmlformats.org/officeDocument/2006/relationships/notesMaster" Target="/ppt/notesMasters/notesMaster1.xml" Id="R0099fbb501be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4a8fc666e34d39" /><Relationship Type="http://schemas.openxmlformats.org/officeDocument/2006/relationships/notesMaster" Target="/ppt/notesMasters/notesMaster1.xml" Id="R2a0009b8cbc546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2692e3ca0248e6" /><Relationship Type="http://schemas.openxmlformats.org/officeDocument/2006/relationships/notesMaster" Target="/ppt/notesMasters/notesMaster1.xml" Id="R83a2f241453545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f14513fcb94bf1" /><Relationship Type="http://schemas.openxmlformats.org/officeDocument/2006/relationships/notesMaster" Target="/ppt/notesMasters/notesMaster1.xml" Id="Rce543a513af1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7e42f1b707413e" /><Relationship Type="http://schemas.openxmlformats.org/officeDocument/2006/relationships/notesMaster" Target="/ppt/notesMasters/notesMaster1.xml" Id="Rc5085d9daa4f40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f3092a9a574df8" /><Relationship Type="http://schemas.openxmlformats.org/officeDocument/2006/relationships/notesMaster" Target="/ppt/notesMasters/notesMaster1.xml" Id="Re88092e5614f4d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1062353a7241b3" /><Relationship Type="http://schemas.openxmlformats.org/officeDocument/2006/relationships/notesMaster" Target="/ppt/notesMasters/notesMaster1.xml" Id="R6381383b192a4d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50bca6d7184642" /><Relationship Type="http://schemas.openxmlformats.org/officeDocument/2006/relationships/notesMaster" Target="/ppt/notesMasters/notesMaster1.xml" Id="Rd05ad9e8bd184c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cf6087944442cd" /><Relationship Type="http://schemas.openxmlformats.org/officeDocument/2006/relationships/notesMaster" Target="/ppt/notesMasters/notesMaster1.xml" Id="R0c60a4ddf8db4e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56d2b5adaf4a9b" /><Relationship Type="http://schemas.openxmlformats.org/officeDocument/2006/relationships/notesMaster" Target="/ppt/notesMasters/notesMaster1.xml" Id="R62b7a2f2b5ea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来源：GridPulse 输出图 outputs/figures/02_representative_week.png。项目范围：德国公开历史数据回测。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问题定义来自项目设计。净负荷公式使用公开 OPSD 字段构造。风险输出为候选运行风险。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来源：OPSD Time Series 2020-10-06，DOI 10.25832/time_series/2020-10-06；质量指标来自 outputs/metrics/data-quality-report.json。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方法来自 src/features.py、src/models.py、src/multihorizon.py 和 docs/risk-aware-control.md。每个时距模型只使用目标时刻前对应时距及更早的观测。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指标来源：outputs/models/reference_baseline_metrics.json，各模型对齐相同 10,035 个冻结测试时点。图来源：outputs/figures/05_forecast_interval_peak_week.png。补充基线不改变原模型选择。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来源：outputs/alerts/alert_evaluation.json 和 docs/day4-risk-alerts.md。风险不等同于确认故障。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来源：outputs/models/day3_model_metrics.json，Day 6 消融。结果不构成因果或跨区域泛化结论。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原版来源：outputs/scenarios/storage_scenario_metrics.json 的 fair_same_information_fixed_reserve_vs_risk_aware。补充来源：outputs/scenarios/reserve_ablation_metrics.json。补充校准只用验证数据，但设计发生在原测试结果已知后，不替代原冻结结果。两组共享预测和约束，仅储备规则不同。期末能量差异和软目标限制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来源：outputs/scenarios/daily_energy_balance_metrics.json 及 daily_*_timeseries.csv。四组相同 10,008 小时，排除首尾两个不完整日。参数：30 GWh，充放电均 1,250 MW，单向效率 0.92，共同硬下限 15%。恢复模式 SOC 上限 50%，日末 SOC=初始 SOC，全天可补电。动态与固定转换损耗分别为 29,187.52 和 34,178.57 MWh。规划只读取发布预测、已知日历和额定功率。属于原测试结果已知后的探索性分析，不能与原连续实验直接比较或宣称真实网络可行性。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来源：outputs/scenarios/peak_response_metrics.json。完整六组含原固定的验证/测试数据及轨迹已保留。发布窗口点预测 &gt;= 验证期一小时点预测 q99（63,183.08 MW）时释放软下限至硬下限 15%。点目标替代上界最小最大目标，区间仍决定储备与放电触发。日末恢复、50% SOC 上限和全天补电假设不变。新动态损耗 54,158.56 MWh、吞吐 651,031.03 MWh；原动态损耗 29,187.52 MWh、吞吐 350,858.30 MWh。全期最高点移至 2019-11-25 14:00 UTC。无独立确认、网络可行性、寿命或经济收益结论。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来源：Energy-Charts.info / Fraunhofer ISE public_power v2，CC BY 4.0，https://api.energy-charts.info/ 。协议 outputs/validation/independent_2021_protocol.json 在全年下载前冻结；完整六组输出 independent_2021_metrics.json，无原数据时间重叠。协议前短样本核查涉及 1 月 1--3 日，仅检查模式并展示首行，未预测/调控/拟合；排除三日的 362 日事后敏感性最大削峰仍为 1,250 MW，平均日削峰 237.30 MW，区间 [183.84,290.45]。全年原最大 70,449.90，新最大 69,199.90 MW，均在 2021-11-10 16:00 UTC。平均日削峰 7 天区块 95% 区间 [184.73,293.93]，3/14 天敏感性也为正；P95 削减区间 [-359.59,78.15] 覆盖零，不支持 P95 优势。改善/持平/变差日为 132/222/11。新动态相比原动态吞吐多 592,789.18 MWh、损耗多 49,313.48 MWh；软目标缺口 444 小时，硬下限和日末误差为零。新固定最大相同、P95 低 373.98 MW，吞吐多 260,877.83 MWh。源时间戳标记区间开始，发布按最新观测小时结束处理，额外发布延迟未知。仅为同国后续历史仿真，非现场/跨国验证，不支持经济收益或可靠性承诺。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ptimality/certificates.json、docs/global-optimality.md。物理约束：容量30000MWh，日初末SOC15000MWh，硬下限4500MWh，操作上限15000MWh，功率各1250MW，单向效率0.92。精确有理数证书针对CSV十进制原值，控制轨迹另按1e-5物理残差容差核验。离线调度去掉预测门槛和软储备，是更宽物理可行集。旧测试现有策略仍有604.15MW差距。标准线性规划和强对偶不作为原创算法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development/controller_metrics.json、operating_stress_metrics.json、interval_audit_metrics.json。0/100/250/500MW窗口容许差先在原验证期比较。准入：峰值不高于原冻结新动态+1MW、P95不高于+50MW，合格配置按吞吐选择。四组均不合格，保留原控制器。2021年份早已公开，不再称独立验证。压力情景每季度固定7天，共68条可行轨迹；连续模式仅新版候选适用，原独立日对照不适用。覆盖率须结合宽度和区间评分解释，无概率或部署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来源：outputs/validation/independent_2022_protocol.json、independent_2022_metrics.json 和 docs/later-year-validation.md。2021 及开发结果已知后单独锁定原六组策略，首次下载2022年度前保存模型、代码与阈值哈希。协议是本地记录，无外部时间戳见证。平均日7天配对区块95%区间[106.43,227.73]，P95削减区间[-238.78,291.67]覆盖零。季度P95均变差，全年分位不能按季度平均。新动态吞吐787162.14MWh、损耗65483.16MWh，软目标未达244小时。新固定最高点相同，新动态P95低29.20MW、吞吐少133032.13MWh，平均日最高点反而高61.89MW。一小时MAE1173.45MW，持平基线2465.62MW。无重训、重校准或候选选型。未新增2022精确最优性证书，仍为同国修订历史仿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系统功能来源：app.py；滚动回测来源：outputs/models/rolling_backtest_metrics.json；风险感知调控来源：outputs/scenarios/storage_scenario_metrics.json。下一关口为研究计划，尚未实施。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bec4116984c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94b7b38b44a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8f8868f884f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ed29eca4e45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66832ff5546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f137516be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CE2BA4-1A20-4F17-B84C-9AE2DE018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5BCD50-9DF6-4BD2-8C35-C2105214DE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C3ADE7-1084-4D03-AEE1-37B8053A5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18C609-5E72-4C0C-9BC5-934B03637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1C9458-D6D0-4EA8-B256-57D6F366FF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18AAA3-0B6E-42BF-A4F6-467FA9E18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412C17-0FC0-4964-9B08-61C3F39F54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8F7FC9-1CB6-4107-B1BF-408FFB0626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702871-E216-4760-AA64-90AE81B406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5E09FF-363F-4FBA-955A-4437C6091C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a3e0d9fd043f4" /><Relationship Type="http://schemas.openxmlformats.org/officeDocument/2006/relationships/slideLayout" Target="/ppt/slideLayouts/slideLayout1.xml" Id="Ra76bd44cc1ab4670" /><Relationship Type="http://schemas.openxmlformats.org/officeDocument/2006/relationships/slideLayout" Target="/ppt/slideLayouts/slideLayout2.xml" Id="Rb3452e3e2e5d413b" /><Relationship Type="http://schemas.openxmlformats.org/officeDocument/2006/relationships/slideLayout" Target="/ppt/slideLayouts/slideLayout3.xml" Id="R598c545dde8a40d6" /><Relationship Type="http://schemas.openxmlformats.org/officeDocument/2006/relationships/slideLayout" Target="/ppt/slideLayouts/slideLayout4.xml" Id="R53b4373649454a2d" /><Relationship Type="http://schemas.openxmlformats.org/officeDocument/2006/relationships/slideLayout" Target="/ppt/slideLayouts/slideLayout5.xml" Id="R547415b20bb34329" /><Relationship Type="http://schemas.openxmlformats.org/officeDocument/2006/relationships/slideLayout" Target="/ppt/slideLayouts/slideLayout6.xml" Id="Rd1a23127525c48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bd44cc1ab4670"/>
    <p:sldLayoutId xmlns:r="http://schemas.openxmlformats.org/officeDocument/2006/relationships" id="2147483650" r:id="Rb3452e3e2e5d413b"/>
    <p:sldLayoutId xmlns:r="http://schemas.openxmlformats.org/officeDocument/2006/relationships" id="2147483651" r:id="R598c545dde8a40d6"/>
    <p:sldLayoutId xmlns:r="http://schemas.openxmlformats.org/officeDocument/2006/relationships" id="2147483652" r:id="R53b4373649454a2d"/>
    <p:sldLayoutId xmlns:r="http://schemas.openxmlformats.org/officeDocument/2006/relationships" id="2147483653" r:id="R547415b20bb34329"/>
    <p:sldLayoutId xmlns:r="http://schemas.openxmlformats.org/officeDocument/2006/relationships" id="2147483654" r:id="Rd1a23127525c48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8e5bb7767471a" /><Relationship Type="http://schemas.openxmlformats.org/officeDocument/2006/relationships/image" Target="/ppt/media/image.png" Id="R06c625bc68f6466a" /><Relationship Type="http://schemas.openxmlformats.org/officeDocument/2006/relationships/notesSlide" Target="/ppt/notesSlides/notesSlide1.xml" Id="Rc6f09d343e5f4b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8cc702b9b465d" /><Relationship Type="http://schemas.openxmlformats.org/officeDocument/2006/relationships/notesSlide" Target="/ppt/notesSlides/notesSlide2.xml" Id="R600b368562884c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99b0b568a4bcf" /><Relationship Type="http://schemas.openxmlformats.org/officeDocument/2006/relationships/image" Target="/ppt/media/image2.png" Id="Rf65171d4b5894af1" /><Relationship Type="http://schemas.openxmlformats.org/officeDocument/2006/relationships/notesSlide" Target="/ppt/notesSlides/notesSlide3.xml" Id="R3473097d211e49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68d3ee4cf4c8e" /><Relationship Type="http://schemas.openxmlformats.org/officeDocument/2006/relationships/notesSlide" Target="/ppt/notesSlides/notesSlide4.xml" Id="Rb30e1ca9c10a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eeb50ffaf48fe" /><Relationship Type="http://schemas.openxmlformats.org/officeDocument/2006/relationships/chart" Target="/ppt/slides/charts/chart1.xml" Id="R01138b3c6fd34e34" /><Relationship Type="http://schemas.openxmlformats.org/officeDocument/2006/relationships/image" Target="/ppt/media/image3.png" Id="R804306b309e14e9c" /><Relationship Type="http://schemas.openxmlformats.org/officeDocument/2006/relationships/notesSlide" Target="/ppt/notesSlides/notesSlide5.xml" Id="Rb767eec27977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d1b8205e14033" /><Relationship Type="http://schemas.openxmlformats.org/officeDocument/2006/relationships/notesSlide" Target="/ppt/notesSlides/notesSlide6.xml" Id="Rc77270b00e7c42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4714b004b4086" /><Relationship Type="http://schemas.openxmlformats.org/officeDocument/2006/relationships/chart" Target="/ppt/slides/charts/chart2.xml" Id="R054bd1a3e6204ce3" /><Relationship Type="http://schemas.openxmlformats.org/officeDocument/2006/relationships/notesSlide" Target="/ppt/notesSlides/notesSlide7.xml" Id="Rbcf1853dfc5d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cc9cb4c8f4306" /><Relationship Type="http://schemas.openxmlformats.org/officeDocument/2006/relationships/notesSlide" Target="/ppt/notesSlides/notesSlide8.xml" Id="R544a4e28598f4d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7b37ef0e34d08" /><Relationship Type="http://schemas.openxmlformats.org/officeDocument/2006/relationships/notesSlide" Target="/ppt/notesSlides/notesSlide9.xml" Id="R0313f0ec381647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b27e55edc4f6b" /><Relationship Type="http://schemas.openxmlformats.org/officeDocument/2006/relationships/notesSlide" Target="/ppt/notesSlides/notesSlide10.xml" Id="R82348c4f8c8f4d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cd3e04c374528" /><Relationship Type="http://schemas.openxmlformats.org/officeDocument/2006/relationships/notesSlide" Target="/ppt/notesSlides/notesSlide11.xml" Id="R11c0f6ae035347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915e71126451b" /><Relationship Type="http://schemas.openxmlformats.org/officeDocument/2006/relationships/notesSlide" Target="/ppt/notesSlides/notesSlide12.xml" Id="R8280bf4e736c4b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8a664e35a44eb" /><Relationship Type="http://schemas.openxmlformats.org/officeDocument/2006/relationships/notesSlide" Target="/ppt/notesSlides/notesSlide13.xml" Id="Rb71d5afc74e145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498d6b6904006" /><Relationship Type="http://schemas.openxmlformats.org/officeDocument/2006/relationships/notesSlide" Target="/ppt/notesSlides/notesSlide14.xml" Id="R4534ede4fd6d46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ed9c3c41449e3" /><Relationship Type="http://schemas.openxmlformats.org/officeDocument/2006/relationships/notesSlide" Target="/ppt/notesSlides/notesSlide15.xml" Id="R2c2a12232dcb41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Data'!$A$2:$A$5</c:f>
              <c:strCache>
                <c:ptCount val="4"/>
                <c:pt idx="0">
                  <c:v>上一小时</c:v>
                </c:pt>
                <c:pt idx="1">
                  <c:v>24h参考</c:v>
                </c:pt>
                <c:pt idx="2">
                  <c:v>168h参考</c:v>
                </c:pt>
                <c:pt idx="3">
                  <c:v>梯度提升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2382.6</c:v>
                </c:pt>
                <c:pt idx="1">
                  <c:v>8760.67</c:v>
                </c:pt>
                <c:pt idx="2">
                  <c:v>9774</c:v>
                </c:pt>
                <c:pt idx="3">
                  <c:v>1019.87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测试 MAE (MW)</c:v>
          </c:tx>
          <c:spPr>
            <a:solidFill xmlns:a="http://schemas.openxmlformats.org/drawingml/2006/main">
              <a:srgbClr val="E7A73B"/>
            </a:solidFill>
          </c:spPr>
          <c:cat>
            <c:strRef>
              <c:f>'Chart Data'!$A$2:$A$5</c:f>
              <c:strCache>
                <c:ptCount val="4"/>
                <c:pt idx="0">
                  <c:v>完整模型</c:v>
                </c:pt>
                <c:pt idx="1">
                  <c:v>去新能源滞后</c:v>
                </c:pt>
                <c:pt idx="2">
                  <c:v>去滚动统计</c:v>
                </c:pt>
                <c:pt idx="3">
                  <c:v>仅日历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1019.87</c:v>
                </c:pt>
                <c:pt idx="1">
                  <c:v>1120.04</c:v>
                </c:pt>
                <c:pt idx="2">
                  <c:v>1035.03</c:v>
                </c:pt>
                <c:pt idx="3">
                  <c:v>9160.43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B811B-B69D-4C66-B95E-9F8B3836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E0EB9-C6CE-4FF6-A5DF-C2A7820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6E122-2D79-4FA4-9EDD-3829D58A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>
            <a:defPPr>
              <a:def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BD0E0-501C-41B3-862E-56502AC2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面向新能源波动的净负荷预测与风险感知储能规划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223E3-7DE5-40D3-9111-2D0AD019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科技创新组 | 公开数据回测原型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AECBD-5112-49C8-8A46-975DAA8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数据、模型、风险规则与风险感知调控均可由脚本复现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6AA8B-E784-4278-8071-0CAB61726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625bc68f6466a"/>
          <a:stretch xmlns:a="http://schemas.openxmlformats.org/drawingml/2006/main"/>
        </p:blipFill>
        <p:spPr>
          <a:xfrm xmlns:a="http://schemas.openxmlformats.org/drawingml/2006/main">
            <a:off x="7524750" y="2401661"/>
            <a:ext cx="3905250" cy="16736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67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2A50E-BF79-497D-9164-868997F2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工程问题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AE9A3-6FD1-4362-AA77-398D3874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新能源出力变化会放大净负荷爬坡与峰值风险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FAC52-574A-4396-90BF-54609032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A5E86-B669-4D65-95CB-4DA4952D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净负荷 = 总负荷 - 光伏发电 - 风电发电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E4BD9-57C2-40E8-8C73-018FD6C0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90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GridPulse 关注三个问题：净负荷何时抬升、可再生能源何时快速下降、预测偏差何时持续扩大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3DEB9-B40D-4E25-8DF2-54768D93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系统定位：为园区或区域级能源管理提供可审计的风险研判参考。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8FFBB-634D-4A33-98A7-F5DBCFFD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项目不声称实际部署、已实现节省或已确认故障。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B6142-2D66-42F8-847C-E743DB4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2</a:t>
            </a:r>
          </a:p>
        </p:txBody>
      </p:sp>
    </p:spTree>
    <p:extLst>
      <p:ext uri="{BB962C8B-B14F-4D97-AF65-F5344CB8AC3E}">
        <p14:creationId xmlns:p14="http://schemas.microsoft.com/office/powerpoint/2010/main" val="61427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8452B-A217-4558-B92E-212716D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数据与质量证据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FE39C-466E-4C29-A931-82F5E0B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Open Power System Data 德国小时级负荷、光伏与风电数据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E42BE-7F53-46B2-B46D-788F84A6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02636-B7FA-4F07-B69B-B4AA5C91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300C2-B719-4F69-B81F-992BBA51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50,400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CB2DF-8398-4782-A14C-5493F880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有效小时记录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DC1E3-8497-49F1-BB78-3EFF355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EEB28-0A2A-4C31-8C30-BDA5624F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2015-2020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9A74F-AB0A-47F2-B97B-7EC38E68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数据覆盖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E5FEC-2A10-49A4-9470-A7CEF755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1C280-6434-45C6-8C8E-C3F3271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1409A-A127-4F36-9451-D25BBF2D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重复时间戳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83400-8E05-4AB4-A4A3-D935FB72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2238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8F731-988D-457E-905C-E3752193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0 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88F54-1D70-4BFE-B58C-1D2148B0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公式误差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C2774-A595-46ED-AFD4-48902A1DB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171d4b5894af1"/>
          <a:stretch xmlns:a="http://schemas.openxmlformats.org/drawingml/2006/main"/>
        </p:blipFill>
        <p:spPr>
          <a:xfrm xmlns:a="http://schemas.openxmlformats.org/drawingml/2006/main">
            <a:off x="936625" y="3095625"/>
            <a:ext cx="6556375" cy="280987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D5002-7087-47C7-94AA-E71E3ED2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2EE11-2B2F-4922-BC5E-5CD50E3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时间频率：60 分钟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缺失时间点：0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负值：0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净负荷缺失：105 行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缺失值未静默填补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E98CA-84D0-4DDF-A769-0A7E9A44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3</a:t>
            </a:r>
          </a:p>
        </p:txBody>
      </p:sp>
    </p:spTree>
    <p:extLst>
      <p:ext uri="{BB962C8B-B14F-4D97-AF65-F5344CB8AC3E}">
        <p14:creationId xmlns:p14="http://schemas.microsoft.com/office/powerpoint/2010/main" val="1203503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56885-19C9-42D2-B4E9-17F58FC1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因果预测与滚动规划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06F3D-134A-4101-8BBD-D058F756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从一步预测扩展为直接 1--6 小时规划窗口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884D3-716E-4A47-A560-E16F1D3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22A19-85F0-4E5F-917A-C6594129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C7B36-F9DF-4CE6-8D3E-F08B642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历史观测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2AB3F-2465-4314-B976-F99677BA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负荷、光伏、风电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4A59B-B9B3-4EA5-9DDD-CF630E80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>
            <a:def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1104E-2F49-4CF1-B7A5-FD8ECEE7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6796B-A9D9-4704-B089-61479B2E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直接预测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AF73C-ECF7-4DEF-B457-41546767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1--6 小时独立模型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仅使用发布时可得观测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4C9DF-204E-47FD-A30E-C87AE953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>
            <a:def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D1DA8-1B5C-40DF-B769-C9909A8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BF8C7-B893-4664-B349-C1A091A4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经验区间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95E58-E7E9-45D7-AD2D-CA4D4D7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验证残差校准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预测上界用于风险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6B3D6-8884-4660-AA90-093A8176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2"/>
          </a:bodyPr>
          <a:lstStyle xmlns:a="http://schemas.openxmlformats.org/drawingml/2006/main">
            <a:def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7A73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CBC73-EDFE-4CE5-9B1A-1C144B74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238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F1986-DF6C-4544-BA0B-6E22D04C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滚动决策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DBFFA-E9D2-4B70-AB6D-24A4E90D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857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动态 SOC 储备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每小时重算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执行第一步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D213C-3D18-4A32-9B9F-87BEADE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1--6 小时预测服务于理论调控；直接 24 小时预报仍需发布时可得的天气或新能源预测输入。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1F30A-34B1-49DE-BF72-80DEE216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4</a:t>
            </a:r>
          </a:p>
        </p:txBody>
      </p:sp>
    </p:spTree>
    <p:extLst>
      <p:ext uri="{BB962C8B-B14F-4D97-AF65-F5344CB8AC3E}">
        <p14:creationId xmlns:p14="http://schemas.microsoft.com/office/powerpoint/2010/main" val="132741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48244-F761-4765-AFB4-AF9B7CDA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5A1C-2EB1-4FF0-B60E-0796B3AA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冻结测试期从 2019-08-09 21:00 UTC 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58BE9-4F48-4AD9-89A8-E4E4277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D177BD9-0FBA-40A3-B0D3-81B76F5FC09C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4953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138b3c6fd34e34"/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35A36-86FC-4848-9DCF-23167B9930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306b309e14e9c"/>
          <a:stretch xmlns:a="http://schemas.openxmlformats.org/drawingml/2006/main"/>
        </p:blipFill>
        <p:spPr>
          <a:xfrm xmlns:a="http://schemas.openxmlformats.org/drawingml/2006/main">
            <a:off x="6096000" y="2166403"/>
            <a:ext cx="5238750" cy="209657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4BA2F-82FB-4188-B8D8-4880B394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梯度提升测试 MAE：1,019.87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BBA1B-38FE-445D-B60F-9AB913E7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相对上一小时持平基线，MAE 下降 57.20%。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30A58-9BAD-433E-853C-4B155E5B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5</a:t>
            </a:r>
          </a:p>
        </p:txBody>
      </p:sp>
    </p:spTree>
    <p:extLst>
      <p:ext uri="{BB962C8B-B14F-4D97-AF65-F5344CB8AC3E}">
        <p14:creationId xmlns:p14="http://schemas.microsoft.com/office/powerpoint/2010/main" val="20690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AC782-6B9F-4B07-A81A-F8EF481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候选运行风险筛查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EBF41-2DCD-470E-8F51-8636AA81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所有阈值仅在验证期校准，再冻结应用到测试期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C502D-98D3-402B-8A91-3A061B9D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2DE7E-B45A-435A-8ABC-6E1006C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F3DF8-0C6F-4F83-B302-FFA4B049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峰值负荷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FD5E3-5FD1-4066-BCB3-B01271EB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预测净负荷 ≥ 55,406 MW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C0374-364C-45E1-83D9-FF71E6D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F03D5-D994-4613-AD18-0D5E7F35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光伏骤降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6A147-49D0-49BA-AA71-E9C9A89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小时变化 ≤ -4,243 MW/h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30EAE-AB65-4AD9-8E4D-988A7CE0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CC06D-FE63-4496-82E9-36EC9BC4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66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持续偏差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7B6D8-D3C7-4084-A7E5-F294916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残差超过 2,937 MW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且持续 3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F6AB8-A837-4242-8F81-E1308A0D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测试期内 972 行至少触发一类候选风险。每个事件保留触发值、阈值与证据文本。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FF33C-AC47-46D0-8E3D-0C9F944B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持续偏差：第三小时确认，延迟 2h。注入事件检出 25/25，点检出 25/75。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DBA5B-A03B-4391-87E2-948198E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注入压力测试只验证人工场景下的规则响应，不代表真实故障检测准确率。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B4696-05C3-4553-86F7-9C733099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6</a:t>
            </a:r>
          </a:p>
        </p:txBody>
      </p:sp>
    </p:spTree>
    <p:extLst>
      <p:ext uri="{BB962C8B-B14F-4D97-AF65-F5344CB8AC3E}">
        <p14:creationId xmlns:p14="http://schemas.microsoft.com/office/powerpoint/2010/main" val="549328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02990-379F-4BCC-A8D6-5FDB456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消融证据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1AD9-3E05-4857-ABEC-24617444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历史净负荷和新能源滞后信息均带来可测量增益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7B2F1-9F14-4ABF-85D6-95E7CC78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A704F3B-D23B-41F6-8F81-135B7C0F30BB}"/>
              </a:ext>
            </a:extLst>
          </p:cNvPr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4bd1a3e6204ce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1F9FE-DBBA-4882-9711-0966B7AB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>
            <a:def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关键观察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D21B8-6ED0-4072-AEC8-AC9E0DC6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238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去除新能源滞后后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100.17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去除滚动统计后</a:t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增加 15.16 MW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仅日历模型显著退化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5E370-0071-4C77-8725-DB601348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结论限于当前数据集与冻结测试期。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62A48-7DF3-40C6-AAF0-44801FD2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7</a:t>
            </a:r>
          </a:p>
        </p:txBody>
      </p:sp>
    </p:spTree>
    <p:extLst>
      <p:ext uri="{BB962C8B-B14F-4D97-AF65-F5344CB8AC3E}">
        <p14:creationId xmlns:p14="http://schemas.microsoft.com/office/powerpoint/2010/main" val="779658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2E401-A3D7-4339-A333-154C11A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风险感知储能协同调控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D10F-6E48-45F1-BB28-A94BF5F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动态 SOC 储备将预测上界和区间宽度转为可解释约束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F82BA-2357-44F5-A18F-DC56A5A2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5D47E-D5E2-4C99-956B-D9AF545D3756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1150"/>
                <a:gridCol w="1581150"/>
                <a:gridCol w="1581150"/>
                <a:gridCol w="1581150"/>
                <a:gridCol w="1581150"/>
              </a:tblGrid>
              <a:tr h="5476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固定储备 P95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风险感知 P95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差值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固定/风险感知循环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54,200.8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54,188.3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-12.5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 / 0.84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54,185.0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54,150.2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-34.9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 / 0.86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GWh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54,177.4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54,077.7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-99.7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 / 0.89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8DBED-A9CB-425B-9B4B-37C6E42D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>
            <a:def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BC13E-1B67-4C1E-960B-8240B319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目标：最小化未来 6h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预测上界的最大净负荷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约束：功率、SOC、效率、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动态储备与低谷充电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10861-562E-4F1B-9A41-DE175D83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原版对照降低 P95，但吞吐略升，全期最高点未降低。原版不确定性项始终饱和。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DC434-295F-4568-88A2-983FDB9A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补充按小时校准：组合 vs 固定储备 P95 -65.85 MW，吞吐 +9,648.40 MWh。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软储备目标未达 2,445 小时，期末 SOC 7,697.08 MWh（初始 15,000）。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900CF-650A-471A-84FD-1D22DBF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补充分析为探索性实验。期末 SOC 未约束，不能据此推断长期收益或可靠性。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B01CB-3F95-4CFF-AD50-807B848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8</a:t>
            </a:r>
          </a:p>
        </p:txBody>
      </p:sp>
    </p:spTree>
    <p:extLst>
      <p:ext uri="{BB962C8B-B14F-4D97-AF65-F5344CB8AC3E}">
        <p14:creationId xmlns:p14="http://schemas.microsoft.com/office/powerpoint/2010/main" val="318843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9E668-8AC3-479A-A2A8-2AA0A708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原版每日能量恢复的公平性复核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6CC4E-6789-43B6-A4FE-77457324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417 个完整 UTC 日，同一硬 SOC 下限，补电负荷与损耗全部计入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26CBD-0ACE-4D43-905B-DD484BA4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1DF5-2EE7-45D1-8C88-2355C42840D8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独立日策略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(MWh)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固定，未恢复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53,905.90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69,122.05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216,309.70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动态，未恢复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53,900.95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69,256.00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168,688.69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固定，每日恢复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54,045.74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69,122.05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410,854.95</a:t>
                      </a:r>
                    </a:p>
                  </a:txBody>
                  <a:tcPr marL="91440" marR="91440" marT="45720" marB="45720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动态，每日恢复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54,030.65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69,256.00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350,858.30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6A042-98F5-4B9B-A375-39D7EA5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每日恢复：动态 P95 低 15.09 MW，吞吐少 59,996.65 MWh，最高点仍未降低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70022-C9CC-4DC8-B043-384FB0C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初末 SOC 均为 15,000 MWh，硬下限 4,500 MWh，违规与日末误差均为 0。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固定策略最高点更低。动态软目标仍有 17 小时未达，结论只支持部分指标取舍。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03DAF-79F2-4CDE-8E96-A9163E92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探索性日实验。恢复模式另限制 SOC 上限为 50%，允许任意小时补电。</a:t>
            </a:r>
          </a:p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未恢复模式每天重置电量，仅为对照。模式差异不能只归因于日末等式。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FCC09-F5C1-4560-8C56-23FB3655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9</a:t>
            </a:r>
          </a:p>
        </p:txBody>
      </p:sp>
    </p:spTree>
    <p:extLst>
      <p:ext uri="{BB962C8B-B14F-4D97-AF65-F5344CB8AC3E}">
        <p14:creationId xmlns:p14="http://schemas.microsoft.com/office/powerpoint/2010/main" val="850230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7147A-AB15-4939-9F86-0467CC3E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极端峰值响应与循环代价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8D4D9-91B6-45C6-B917-CEFCB1F2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点预测定位峰值，验证期 q99 触发软储备释放，保持硬下限与每日恢复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2B2E9-5EE2-4348-8B9E-E078F9D2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D407-EB12-48B0-989F-08E632EA316F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417 日测试配置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(MWh)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69,256.00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54,030.65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350,858.30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仅软储备释放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69,122.05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54,030.65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353,178.75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仅点预测目标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68,657.77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53,839.53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616,017.69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新动态组合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68,610.15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53,860.55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651,031.03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新固定组合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68,610.15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53,829.99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851,572.50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78C22-3C29-4D22-994E-93FB399E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新动态全期最高峰降低 645.85 MW，P95 比原动态低 170.10 MW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4AF3D-4A23-473F-82E9-412A326C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原峰小时放电 1,250 MW，最高点转移。吞吐与损耗增加，193 小时软目标未达。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新固定最高峰相同、P95 更低，新动态吞吐少 200,541.46 MWh。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48E0C-9352-4282-9A0A-2791EF51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验证期内部诊断削峰 644.43 MW。设计发生在旧测试峰值已知后，仍为探索性证据。</a:t>
            </a:r>
          </a:p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阈值仅用验证预测校准，硬 SOC 违规和最大日末误差为 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D00A7-3422-4C38-AB5C-BF35B0E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10</a:t>
            </a:r>
          </a:p>
        </p:txBody>
      </p:sp>
    </p:spTree>
    <p:extLst>
      <p:ext uri="{BB962C8B-B14F-4D97-AF65-F5344CB8AC3E}">
        <p14:creationId xmlns:p14="http://schemas.microsoft.com/office/powerpoint/2010/main" val="2065108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86041-E403-4BAE-9273-A55F3ECE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2021 年冻结时间留出验证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E9C0E-0D50-42DE-B5F5-CB4962E0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Energy-Charts.info 德国全年 365 日，下载前锁定协议，模型与阈值不再调整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2C3D0-9FA2-4769-AFF4-8440CC2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ABD11-FBEA-4E32-9710-C012E3CCA4A5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00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 冻结配置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(MW)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(MWh)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原固定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58,731.82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868,858.54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58,962.80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803,647.83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仅软储备释放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59,027.41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819,237.35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仅点预测目标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70,062.83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58,858.94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1,305,791.79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新动态组合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59,035.77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1,396,437.01</a:t>
                      </a:r>
                    </a:p>
                  </a:txBody>
                  <a:tcPr marL="91440" marR="91440" marT="45720" marB="45720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新固定组合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58,661.79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1,657,314.84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99682-8B2A-4372-A27D-E171F51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全年最高点降低 1,250.00 MW，平均日最高点降低 237.39 MW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83D9E-D40D-41DB-A585-8D6111CC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平均日削峰 95% 区间 [184.73, 293.93] MW，7 天配对区块、2,000 次。</a:t>
            </a:r>
          </a:p>
          <a:p xmlns:a="http://schemas.openxmlformats.org/drawingml/2006/main">
            <a:pPr>
              <a:def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全年 P95 升高 72.97 MW，Q3 最高点变差 230.18 MW，吞吐与损耗增加。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E45EF-9A2B-4B85-A354-3BC80AE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>
            <a:def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证据支持限定的后续年份极端削峰，P95 优势未复现，新固定也达到相同最高点。</a:t>
            </a:r>
          </a:p>
          <a:p xmlns:a="http://schemas.openxmlformats.org/drawingml/2006/main">
            <a:pPr>
              <a:def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同国修订历史数据，额外发布延迟、网络、价格和退化仍需核验。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023F7-C1D3-4B20-826F-83BB1DD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11</a:t>
            </a:r>
          </a:p>
        </p:txBody>
      </p:sp>
    </p:spTree>
    <p:extLst>
      <p:ext uri="{BB962C8B-B14F-4D97-AF65-F5344CB8AC3E}">
        <p14:creationId xmlns:p14="http://schemas.microsoft.com/office/powerpoint/2010/main" val="16780114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30FF8-58C9-40E0-BF74-0CEB52F6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有限实例的最优性证明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421E1-FFB6-4ED3-89EF-A664F608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固定物理模型，只优化全年最高点，随后最小化离线吞吐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D5F37-DB05-4CB8-B640-71768F9C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FDE5-9832-49A6-86E9-B051AB9A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任何可行最高点 ≥ 原负荷最高点 − 最大放电功率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CF8AD-7E89-46ED-8D0D-DE0C30B0BF65}"/>
              </a:ext>
            </a:extLst>
          </p:cNvPr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1714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物理最优最高点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现有新动态差距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离线最低吞吐 MWh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 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5,380.88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旧探索性测试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68,006.00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604.15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5,261.72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B1964-AE71-4A2A-9604-D0AEC40B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2021 年原最高点 70,449.90 − 1,250 = 69,199.90 MW，现有策略达到下界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1A057-34E2-4FE9-AF06-D5FAF6A2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两组离线解均有精确有理数下界达到证明，1,564 个 LP 原始与对偶见证交叉核验。</a:t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原固定策略也达到相同最高点，数学证书不证明动态储备独有优势。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923F4-EE70-441C-91AC-E7F9C544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离线解预知全年真实负荷。最低吞吐、P95 和所有未来在线场景不能混为同一最优。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1B3C8-35E3-4E3E-85F7-D686681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12</a:t>
            </a:r>
          </a:p>
        </p:txBody>
      </p:sp>
    </p:spTree>
    <p:extLst>
      <p:ext uri="{BB962C8B-B14F-4D97-AF65-F5344CB8AC3E}">
        <p14:creationId xmlns:p14="http://schemas.microsoft.com/office/powerpoint/2010/main" val="245942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216CB-CE25-41B7-9429-481F6FA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循环代价与运行边界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6AF6-E1E8-4386-8A78-0514B72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新开发单独复核，原冻结证据保留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43B4-7073-4EA0-B26A-3FB08C2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6568F-A00D-4F2C-A0F4-82C18513CE88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4762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 已知年开发复核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最高点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 MWh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原冻结控制器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59,035.77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1,396,437.01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 0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69,199.90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59,169.51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1,389,976.34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 250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69,449.90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59,081.22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1,100,573.17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两阶段 500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69,699.90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59,120.42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827,610.50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D3E98-095A-485C-AFDE-D462DE2D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原验证期筛选未通过，保留原控制器。循环减少伴随最高点或 P95 变差。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57BF3-2CF4-4C3B-BEF7-CB63F5DC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四个固定季度周完成 68 组运行压力复核，含预测滞后、缺失和跨日运行。</a:t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已求解轨迹物理约束核验通过，效果随运行条件变化。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647D9-AE93-472A-9F2C-6DB25CE9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一小时区间覆盖率：固定 88.03%，滚动 89.82%。</a:t>
            </a:r>
          </a:p>
          <a:p xmlns:a="http://schemas.openxmlformats.org/drawingml/2006/main">
            <a:pPr>
              <a:def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滚动校准仅用发布时已观测残差，尚未反馈控制器，属于已知年份事后分析。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1935D-0C5A-42FB-A7AE-4237519D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13</a:t>
            </a:r>
          </a:p>
        </p:txBody>
      </p:sp>
    </p:spTree>
    <p:extLst>
      <p:ext uri="{BB962C8B-B14F-4D97-AF65-F5344CB8AC3E}">
        <p14:creationId xmlns:p14="http://schemas.microsoft.com/office/powerpoint/2010/main" val="19566170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F4CC-CF0B-4E26-813B-176C4A3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2022 年锁定复验与年度差异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847C5-64F2-4A65-802A-ABEF0659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下载前锁定原六组策略，365 个共享日，未重训或调参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0F6BC-1946-4C89-9902-22BBBD22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ABA28-A92F-4258-B7C1-04E55EBA9CE1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3946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 冻结配置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最高净负荷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MW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原固定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71,010.97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54,973.63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71,010.97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54,948.09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仅储备释放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71,010.97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54,948.09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仅点预测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70,344.49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54,737.17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新动态组合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69,760.97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54,802.60</a:t>
                      </a:r>
                    </a:p>
                  </a:txBody>
                  <a:tcPr marL="91440" marR="91440" marT="45720" marB="45720"/>
                </a:tc>
              </a:tr>
              <a:tr h="39460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新固定组合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69,760.97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3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54,831.81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FB998-0DCC-4F78-8865-D91C1254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全年最高点降低 1,250 MW，平均日降低 165.83 MW，区间 [106.43,227.73]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075EB-F733-4967-934C-E733379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全年 P95 低 145.49 MW，但改善区间覆盖零，四个季度 P95 均变差。</a:t>
            </a:r>
          </a:p>
          <a:p xmlns:a="http://schemas.openxmlformats.org/drawingml/2006/main">
            <a:pPr>
              <a:def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相对原动态吞吐多 300,478.17 MWh，一小时区间覆盖率降至 82.03%。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CEB49-CDDE-4C87-86D3-3C2A50DA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两年均复现极端削峰。尾部分位优势仍不稳定，循环代价与区间退化需保留。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F6074-5DE3-4C53-94EC-E8B2760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14</a:t>
            </a:r>
          </a:p>
        </p:txBody>
      </p:sp>
    </p:spTree>
    <p:extLst>
      <p:ext uri="{BB962C8B-B14F-4D97-AF65-F5344CB8AC3E}">
        <p14:creationId xmlns:p14="http://schemas.microsoft.com/office/powerpoint/2010/main" val="13949724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A91DA-0604-4225-A1CF-14CF8920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系统原型与下一研究关口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EA78E-AB37-45FA-B4D2-FE598F3F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Streamlit MVP 已串联数据、预测、风险证据和风险感知调控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EE8FE-006E-42B4-AC83-278F2CB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DBDC1-3608-4E49-9CE7-5A2E9620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5F9DA-FEC7-4282-B8CB-AC275BF2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预测回测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风险事件详情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特征解释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理论调度建议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风险感知调控对照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826D9-4E9A-4804-BE21-667028A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已验证证据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31D96-3811-4AE2-BA79-AC75D8D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342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滚动回测：5/5 窗口胜基线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MAE 均值：837.30 MW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测试区间覆盖率：86.92%</a:t>
            </a:r>
          </a:p>
          <a:p xmlns:a="http://schemas.openxmlformats.org/drawingml/2006/main">
            <a:pPr>
              <a:def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区间预警进入人工复核队列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30BF9-4A4F-415F-A4BC-68D42B89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下一关口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DBC04-5057-418E-995E-1B0DCF6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23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构造真正可在发布时获取的 24 小时输入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接入电价、退化和网络约束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增加跨区域验证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329EC-C5E0-4970-87CD-A7B1B948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02A"/>
                </a:solidFill>
                <a:latin typeface="Microsoft YaHei"/>
                <a:ea typeface="Microsoft YaHei"/>
                <a:cs typeface="Microsoft YaHei"/>
              </a:rPr>
              <a:t>可复现路径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5C509-E6FB-4333-94BF-780FBC4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下载数据 → 质量检查 → 基线 → 模型 → 区间 → 风险 → 情景 → 仪表盘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16ABF-8A03-4D89-AE67-1E01C84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提交前：核查匿名要求、数据许可与每一项结果的脚本可再生性。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763DC-E6F0-4933-8B40-3C8C3C38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>
            <a:def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5E"/>
                </a:solidFill>
                <a:latin typeface="Microsoft YaHei"/>
                <a:ea typeface="Microsoft YaHei"/>
                <a:cs typeface="Microsoft YaHei"/>
              </a:rPr>
              <a:t>GridPulse  |  15</a:t>
            </a:r>
          </a:p>
        </p:txBody>
      </p:sp>
    </p:spTree>
    <p:extLst>
      <p:ext uri="{BB962C8B-B14F-4D97-AF65-F5344CB8AC3E}">
        <p14:creationId xmlns:p14="http://schemas.microsoft.com/office/powerpoint/2010/main" val="1558517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2026-10-10T00:42:06.9580000Z</dcterms:created>
  <dcterms:modified xsi:type="dcterms:W3CDTF">2026-10-10T00:42:06.9590000Z</dcterms:modified>
</coreProperties>
</file>