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83a5b27a9145b2" /><Relationship Type="http://schemas.openxmlformats.org/officeDocument/2006/relationships/extended-properties" Target="/docProps/app.xml" Id="R4a34a4331af74a04" /><Relationship Type="http://schemas.openxmlformats.org/officeDocument/2006/relationships/officeDocument" Target="/ppt/presentation.xml" Id="Rdddcc1ba9cfd42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3629e9ce641be"/>
  </p:sldMasterIdLst>
  <p:notesMasterIdLst>
    <p:notesMasterId xmlns:r="http://schemas.openxmlformats.org/officeDocument/2006/relationships" r:id="R6f42d2fb68f04224"/>
  </p:notesMasterIdLst>
  <p:sldIdLst>
    <p:sldId xmlns:r="http://schemas.openxmlformats.org/officeDocument/2006/relationships" id="256" r:id="R685d20df711749d6"/>
    <p:sldId xmlns:r="http://schemas.openxmlformats.org/officeDocument/2006/relationships" id="257" r:id="Re449f9bd5c13469c"/>
    <p:sldId xmlns:r="http://schemas.openxmlformats.org/officeDocument/2006/relationships" id="258" r:id="Ref7317122a864dc8"/>
    <p:sldId xmlns:r="http://schemas.openxmlformats.org/officeDocument/2006/relationships" id="259" r:id="R1fb11222734745e1"/>
    <p:sldId xmlns:r="http://schemas.openxmlformats.org/officeDocument/2006/relationships" id="260" r:id="R594cd14dcc3e422c"/>
    <p:sldId xmlns:r="http://schemas.openxmlformats.org/officeDocument/2006/relationships" id="261" r:id="Rd4a9f2d8089443ee"/>
    <p:sldId xmlns:r="http://schemas.openxmlformats.org/officeDocument/2006/relationships" id="262" r:id="R06bf3236da0b484d"/>
    <p:sldId xmlns:r="http://schemas.openxmlformats.org/officeDocument/2006/relationships" id="263" r:id="R1887e860269443f6"/>
    <p:sldId xmlns:r="http://schemas.openxmlformats.org/officeDocument/2006/relationships" id="264" r:id="R201b89c3599845b4"/>
    <p:sldId xmlns:r="http://schemas.openxmlformats.org/officeDocument/2006/relationships" id="265" r:id="Rd1417cf10c484939"/>
    <p:sldId xmlns:r="http://schemas.openxmlformats.org/officeDocument/2006/relationships" id="266" r:id="R203ede3b0c334504"/>
    <p:sldId xmlns:r="http://schemas.openxmlformats.org/officeDocument/2006/relationships" id="267" r:id="Redd9c65b08164d5c"/>
    <p:sldId xmlns:r="http://schemas.openxmlformats.org/officeDocument/2006/relationships" id="268" r:id="R50e6d3315cec4f83"/>
    <p:sldId xmlns:r="http://schemas.openxmlformats.org/officeDocument/2006/relationships" id="269" r:id="R7334e29d168848a0"/>
    <p:sldId xmlns:r="http://schemas.openxmlformats.org/officeDocument/2006/relationships" id="270" r:id="Rf3ea6dc6b3cc43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e24a8ad4c42b0" /><Relationship Type="http://schemas.openxmlformats.org/officeDocument/2006/relationships/slideMaster" Target="/ppt/slideMasters/slideMaster1.xml" Id="R6d53629e9ce641be" /><Relationship Type="http://schemas.openxmlformats.org/officeDocument/2006/relationships/notesMaster" Target="/ppt/notesMasters/notesMaster1.xml" Id="R6f42d2fb68f04224" /><Relationship Type="http://schemas.openxmlformats.org/officeDocument/2006/relationships/presProps" Target="/ppt/presProps.xml" Id="R295da021888e4cf2" /><Relationship Type="http://schemas.openxmlformats.org/officeDocument/2006/relationships/tableStyles" Target="/ppt/tableStyles.xml" Id="R368374943121401d" /><Relationship Type="http://schemas.openxmlformats.org/officeDocument/2006/relationships/slide" Target="/ppt/slides/slide1.xml" Id="R685d20df711749d6" /><Relationship Type="http://schemas.openxmlformats.org/officeDocument/2006/relationships/slide" Target="/ppt/slides/slide2.xml" Id="Re449f9bd5c13469c" /><Relationship Type="http://schemas.openxmlformats.org/officeDocument/2006/relationships/slide" Target="/ppt/slides/slide3.xml" Id="Ref7317122a864dc8" /><Relationship Type="http://schemas.openxmlformats.org/officeDocument/2006/relationships/slide" Target="/ppt/slides/slide4.xml" Id="R1fb11222734745e1" /><Relationship Type="http://schemas.openxmlformats.org/officeDocument/2006/relationships/slide" Target="/ppt/slides/slide5.xml" Id="R594cd14dcc3e422c" /><Relationship Type="http://schemas.openxmlformats.org/officeDocument/2006/relationships/slide" Target="/ppt/slides/slide6.xml" Id="Rd4a9f2d8089443ee" /><Relationship Type="http://schemas.openxmlformats.org/officeDocument/2006/relationships/slide" Target="/ppt/slides/slide7.xml" Id="R06bf3236da0b484d" /><Relationship Type="http://schemas.openxmlformats.org/officeDocument/2006/relationships/slide" Target="/ppt/slides/slide8.xml" Id="R1887e860269443f6" /><Relationship Type="http://schemas.openxmlformats.org/officeDocument/2006/relationships/slide" Target="/ppt/slides/slide9.xml" Id="R201b89c3599845b4" /><Relationship Type="http://schemas.openxmlformats.org/officeDocument/2006/relationships/slide" Target="/ppt/slides/slide10.xml" Id="Rd1417cf10c484939" /><Relationship Type="http://schemas.openxmlformats.org/officeDocument/2006/relationships/slide" Target="/ppt/slides/slide11.xml" Id="R203ede3b0c334504" /><Relationship Type="http://schemas.openxmlformats.org/officeDocument/2006/relationships/slide" Target="/ppt/slides/slide12.xml" Id="Redd9c65b08164d5c" /><Relationship Type="http://schemas.openxmlformats.org/officeDocument/2006/relationships/slide" Target="/ppt/slides/slide13.xml" Id="R50e6d3315cec4f83" /><Relationship Type="http://schemas.openxmlformats.org/officeDocument/2006/relationships/slide" Target="/ppt/slides/slide14.xml" Id="R7334e29d168848a0" /><Relationship Type="http://schemas.openxmlformats.org/officeDocument/2006/relationships/slide" Target="/ppt/slides/slide15.xml" Id="Rf3ea6dc6b3cc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2c1877db9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0af244753643e7" /><Relationship Type="http://schemas.openxmlformats.org/officeDocument/2006/relationships/notesMaster" Target="/ppt/notesMasters/notesMaster1.xml" Id="R93a98ca29acf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1b52ff6f64b5d" /><Relationship Type="http://schemas.openxmlformats.org/officeDocument/2006/relationships/notesMaster" Target="/ppt/notesMasters/notesMaster1.xml" Id="Race4e6531671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718df0caa4304" /><Relationship Type="http://schemas.openxmlformats.org/officeDocument/2006/relationships/notesMaster" Target="/ppt/notesMasters/notesMaster1.xml" Id="Rdbf71978900441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9df01d413e4107" /><Relationship Type="http://schemas.openxmlformats.org/officeDocument/2006/relationships/notesMaster" Target="/ppt/notesMasters/notesMaster1.xml" Id="R36a680cf7f53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9a1b15a3304daf" /><Relationship Type="http://schemas.openxmlformats.org/officeDocument/2006/relationships/notesMaster" Target="/ppt/notesMasters/notesMaster1.xml" Id="R448e93aee79043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ebc0a1f7284602" /><Relationship Type="http://schemas.openxmlformats.org/officeDocument/2006/relationships/notesMaster" Target="/ppt/notesMasters/notesMaster1.xml" Id="Rc6b858a45d67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3026aa997e4802" /><Relationship Type="http://schemas.openxmlformats.org/officeDocument/2006/relationships/notesMaster" Target="/ppt/notesMasters/notesMaster1.xml" Id="Re22ef416e0dc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676bfa3de48ae" /><Relationship Type="http://schemas.openxmlformats.org/officeDocument/2006/relationships/notesMaster" Target="/ppt/notesMasters/notesMaster1.xml" Id="R9c8028a1d3df45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9b439e4bdf4605" /><Relationship Type="http://schemas.openxmlformats.org/officeDocument/2006/relationships/notesMaster" Target="/ppt/notesMasters/notesMaster1.xml" Id="R7fb086cc9ce7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75a94c8c5a4a26" /><Relationship Type="http://schemas.openxmlformats.org/officeDocument/2006/relationships/notesMaster" Target="/ppt/notesMasters/notesMaster1.xml" Id="R60cdf911580245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ffd11e71994949" /><Relationship Type="http://schemas.openxmlformats.org/officeDocument/2006/relationships/notesMaster" Target="/ppt/notesMasters/notesMaster1.xml" Id="Redd0e55e142247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dd074f3334400a" /><Relationship Type="http://schemas.openxmlformats.org/officeDocument/2006/relationships/notesMaster" Target="/ppt/notesMasters/notesMaster1.xml" Id="Raff1d47bfc7b49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7ec39af5114dd1" /><Relationship Type="http://schemas.openxmlformats.org/officeDocument/2006/relationships/notesMaster" Target="/ppt/notesMasters/notesMaster1.xml" Id="R3cdbad97f29341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3cb24f378048f4" /><Relationship Type="http://schemas.openxmlformats.org/officeDocument/2006/relationships/notesMaster" Target="/ppt/notesMasters/notesMaster1.xml" Id="R22521fa595f746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5d2070ce0f4296" /><Relationship Type="http://schemas.openxmlformats.org/officeDocument/2006/relationships/notesMaster" Target="/ppt/notesMasters/notesMaster1.xml" Id="R40f78252193a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来源：GridPulse 输出图 outputs/figures/02_representative_week.png。项目范围：德国公开历史数据回测。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问题定义来自项目设计。净负荷公式使用公开 OPSD 字段构造。风险输出为候选运行风险。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来源：OPSD Time Series 2020-10-06，DOI 10.25832/time_series/2020-10-06；质量指标来自 outputs/metrics/data-quality-report.json。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方法来自 src/features.py、src/models.py、src/multihorizon.py 和 docs/risk-aware-control.md。每个时距模型只使用目标时刻前对应时距及更早的观测。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指标来源：outputs/models/reference_baseline_metrics.json，各模型对齐相同 10,035 个冻结测试时点。图来源：outputs/figures/05_forecast_interval_peak_week.png。补充基线不改变原模型选择。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来源：outputs/alerts/alert_evaluation.json 和 docs/day4-risk-alerts.md。风险不等同于确认故障。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来源：outputs/models/day3_model_metrics.json，Day 6 消融。结果不构成因果或跨区域泛化结论。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原版来源：outputs/scenarios/storage_scenario_metrics.json 的 fair_same_information_fixed_reserve_vs_risk_aware。补充来源：outputs/scenarios/reserve_ablation_metrics.json。补充校准只用验证数据，但设计发生在原测试结果已知后，不替代原冻结结果。两组共享预测和约束，仅储备规则不同。期末能量差异和软目标限制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来源：outputs/scenarios/daily_energy_balance_metrics.json 及 daily_*_timeseries.csv。四组相同 10,008 小时，排除首尾两个不完整日。参数：30 GWh，充放电均 1,250 MW，单向效率 0.92，共同硬下限 15%。恢复模式 SOC 上限 50%，日末 SOC=初始 SOC，全天可补电。动态与固定转换损耗分别为 29,187.52 和 34,178.57 MWh。规划只读取发布预测、已知日历和额定功率。属于原测试结果已知后的探索性分析，不能与原连续实验直接比较或宣称真实网络可行性。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来源：outputs/scenarios/peak_response_metrics.json。完整六组含原固定的验证/测试数据及轨迹已保留。发布窗口点预测 &gt;= 验证期一小时点预测 q99（63,183.08 MW）时释放软下限至硬下限 15%。点目标替代上界最小最大目标，区间仍决定储备与放电触发。日末恢复、50% SOC 上限和全天补电假设不变。新动态损耗 54,158.56 MWh、吞吐 651,031.03 MWh；原动态损耗 29,187.52 MWh、吞吐 350,858.30 MWh。全期最高点移至 2019-11-25 14:00 UTC。无独立确认、网络可行性、寿命或经济收益结论。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来源：Energy-Charts.info / Fraunhofer ISE public_power v2，CC BY 4.0，https://api.energy-charts.info/ 。协议 outputs/validation/independent_2021_protocol.json 在全年下载前冻结；完整六组输出 independent_2021_metrics.json，无原数据时间重叠。协议前短样本核查涉及 1 月 1--3 日，仅检查模式并展示首行，未预测/调控/拟合；排除三日的 362 日事后敏感性最大削峰仍为 1,250 MW，平均日削峰 237.30 MW，区间 [183.84,290.45]。全年原最大 70,449.90，新最大 69,199.90 MW，均在 2021-11-10 16:00 UTC。平均日削峰 7 天区块 95% 区间 [184.73,293.93]，3/14 天敏感性也为正；P95 削减区间 [-359.59,78.15] 覆盖零，不支持 P95 优势。改善/持平/变差日为 132/222/11。新动态相比原动态吞吐多 592,789.18 MWh、损耗多 49,313.48 MWh；软目标缺口 444 小时，硬下限和日末误差为零。新固定最大相同、P95 低 373.98 MW，吞吐多 260,877.83 MWh。源时间戳标记区间开始，发布按最新观测小时结束处理，额外发布延迟未知。仅为同国后续历史仿真，非现场/跨国验证，不支持经济收益或可靠性承诺。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ptimality/certificates.json、docs/global-optimality.md。物理约束：容量30000MWh，日初末SOC15000MWh，硬下限4500MWh，操作上限15000MWh，功率各1250MW，单向效率0.92。精确有理数证书针对CSV十进制原值，控制轨迹另按1e-5物理残差容差核验。离线调度去掉预测门槛和软储备，是更宽物理可行集。旧测试现有策略仍有604.15MW差距。标准线性规划和强对偶不作为原创算法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development/controller_metrics.json、operating_stress_metrics.json、interval_audit_metrics.json。0/100/250/500MW窗口容许差先在原验证期比较。准入：峰值不高于原冻结新动态+1MW、P95不高于+50MW，合格配置按吞吐选择。四组均不合格，保留原控制器。2021年份早已公开，不再称独立验证。压力情景每季度固定7天，共68条可行轨迹；连续模式仅新版候选适用，原独立日对照不适用。覆盖率须结合宽度和区间评分解释，无概率或部署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来源：outputs/validation/independent_2022_protocol.json、independent_2022_metrics.json 和 docs/later-year-validation.md。2021 及开发结果已知后单独锁定原六组策略，首次下载2022年度前保存模型、代码与阈值哈希。协议是本地记录，无外部时间戳见证。平均日7天配对区块95%区间[106.43,227.73]，P95削减区间[-238.78,291.67]覆盖零。季度P95均变差，全年分位不能按季度平均。新动态吞吐787162.14MWh、损耗65483.16MWh，软目标未达244小时。新固定最高点相同，新动态P95低29.20MW、吞吐少133032.13MWh，平均日最高点反而高61.89MW。一小时MAE1173.45MW，持平基线2465.62MW。无重训、重校准或候选选型。未新增2022精确最优性证书，仍为同国修订历史仿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系统功能来源：app.py；滚动回测来源：outputs/models/rolling_backtest_metrics.json；风险感知调控来源：outputs/scenarios/storage_scenario_metrics.json。下一关口为研究计划，尚未实施。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c962d5f7b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86570e2684c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0f1e02da747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ac3a6f5d442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6c4a7114b45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4b80f27a447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241F40-14EF-489D-8578-B33654DE8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18D0F5-90CA-4692-96CC-6CA0D4F8F1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B02B4B-10AC-477E-A684-6C916088A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5D1A56-DA10-4577-A218-D1CF9DB13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562834-EBFE-40AC-9383-E508321F60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28B63C-4BCD-48E0-A858-3604A2107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B541D2-DEC5-42A7-9661-A444FA9A4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9AB4C2-D681-422B-AD53-CBF7168704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BFB45F-C934-4A47-8D5E-39620D0EA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5B4A25-7470-4310-B2DA-C24927EA3B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7b05330d74599" /><Relationship Type="http://schemas.openxmlformats.org/officeDocument/2006/relationships/slideLayout" Target="/ppt/slideLayouts/slideLayout1.xml" Id="Ra8e366cf1e0c4e3a" /><Relationship Type="http://schemas.openxmlformats.org/officeDocument/2006/relationships/slideLayout" Target="/ppt/slideLayouts/slideLayout2.xml" Id="R422f37e212014a4f" /><Relationship Type="http://schemas.openxmlformats.org/officeDocument/2006/relationships/slideLayout" Target="/ppt/slideLayouts/slideLayout3.xml" Id="Re4e62db9cb9d4777" /><Relationship Type="http://schemas.openxmlformats.org/officeDocument/2006/relationships/slideLayout" Target="/ppt/slideLayouts/slideLayout4.xml" Id="R4c471dafe66743db" /><Relationship Type="http://schemas.openxmlformats.org/officeDocument/2006/relationships/slideLayout" Target="/ppt/slideLayouts/slideLayout5.xml" Id="Rcc0bbdc1efc346e3" /><Relationship Type="http://schemas.openxmlformats.org/officeDocument/2006/relationships/slideLayout" Target="/ppt/slideLayouts/slideLayout6.xml" Id="R927e0dbad0bf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366cf1e0c4e3a"/>
    <p:sldLayoutId xmlns:r="http://schemas.openxmlformats.org/officeDocument/2006/relationships" id="2147483650" r:id="R422f37e212014a4f"/>
    <p:sldLayoutId xmlns:r="http://schemas.openxmlformats.org/officeDocument/2006/relationships" id="2147483651" r:id="Re4e62db9cb9d4777"/>
    <p:sldLayoutId xmlns:r="http://schemas.openxmlformats.org/officeDocument/2006/relationships" id="2147483652" r:id="R4c471dafe66743db"/>
    <p:sldLayoutId xmlns:r="http://schemas.openxmlformats.org/officeDocument/2006/relationships" id="2147483653" r:id="Rcc0bbdc1efc346e3"/>
    <p:sldLayoutId xmlns:r="http://schemas.openxmlformats.org/officeDocument/2006/relationships" id="2147483654" r:id="R927e0dbad0bf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95e73ef2f4cad" /><Relationship Type="http://schemas.openxmlformats.org/officeDocument/2006/relationships/image" Target="/ppt/media/image.png" Id="R66b3cdac163a40d1" /><Relationship Type="http://schemas.openxmlformats.org/officeDocument/2006/relationships/notesSlide" Target="/ppt/notesSlides/notesSlide1.xml" Id="Re42dc52573f7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c0980127d47fe" /><Relationship Type="http://schemas.openxmlformats.org/officeDocument/2006/relationships/notesSlide" Target="/ppt/notesSlides/notesSlide2.xml" Id="R43c8c90b931a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194da5c4c4734" /><Relationship Type="http://schemas.openxmlformats.org/officeDocument/2006/relationships/image" Target="/ppt/media/image2.png" Id="R1e5826cf8a8b4490" /><Relationship Type="http://schemas.openxmlformats.org/officeDocument/2006/relationships/notesSlide" Target="/ppt/notesSlides/notesSlide3.xml" Id="R39ca0e687c72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7284a05554569" /><Relationship Type="http://schemas.openxmlformats.org/officeDocument/2006/relationships/notesSlide" Target="/ppt/notesSlides/notesSlide4.xml" Id="Rc9ebc31ce2944d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4e7ae52de49b9" /><Relationship Type="http://schemas.openxmlformats.org/officeDocument/2006/relationships/chart" Target="/ppt/slides/charts/chart1.xml" Id="R5a5c1eec9cf841f8" /><Relationship Type="http://schemas.openxmlformats.org/officeDocument/2006/relationships/image" Target="/ppt/media/image3.png" Id="R0e878c571bfd4c61" /><Relationship Type="http://schemas.openxmlformats.org/officeDocument/2006/relationships/notesSlide" Target="/ppt/notesSlides/notesSlide5.xml" Id="R22e0e1e275bf4c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b4928c19c4cb0" /><Relationship Type="http://schemas.openxmlformats.org/officeDocument/2006/relationships/notesSlide" Target="/ppt/notesSlides/notesSlide6.xml" Id="R2b2c3742d1e74b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b7b898d564811" /><Relationship Type="http://schemas.openxmlformats.org/officeDocument/2006/relationships/chart" Target="/ppt/slides/charts/chart2.xml" Id="R9820521f18e943cf" /><Relationship Type="http://schemas.openxmlformats.org/officeDocument/2006/relationships/notesSlide" Target="/ppt/notesSlides/notesSlide7.xml" Id="Ra9c666a5b75f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ee22573f474b5d" /><Relationship Type="http://schemas.openxmlformats.org/officeDocument/2006/relationships/notesSlide" Target="/ppt/notesSlides/notesSlide8.xml" Id="R891d09cb13fe41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912588ef341dc" /><Relationship Type="http://schemas.openxmlformats.org/officeDocument/2006/relationships/notesSlide" Target="/ppt/notesSlides/notesSlide9.xml" Id="R986ac91a8f5644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ebd11011140df" /><Relationship Type="http://schemas.openxmlformats.org/officeDocument/2006/relationships/notesSlide" Target="/ppt/notesSlides/notesSlide10.xml" Id="Rb6945901c6fd47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31b0d1b974368" /><Relationship Type="http://schemas.openxmlformats.org/officeDocument/2006/relationships/notesSlide" Target="/ppt/notesSlides/notesSlide11.xml" Id="Rb7134553ac91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ac2034d60417d" /><Relationship Type="http://schemas.openxmlformats.org/officeDocument/2006/relationships/notesSlide" Target="/ppt/notesSlides/notesSlide12.xml" Id="Rc82591ad7b4b44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ac09b2f544c7d" /><Relationship Type="http://schemas.openxmlformats.org/officeDocument/2006/relationships/notesSlide" Target="/ppt/notesSlides/notesSlide13.xml" Id="R8a4f2126717941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5530f30804775" /><Relationship Type="http://schemas.openxmlformats.org/officeDocument/2006/relationships/notesSlide" Target="/ppt/notesSlides/notesSlide14.xml" Id="R30bfba523b2945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ddf5892594d5f" /><Relationship Type="http://schemas.openxmlformats.org/officeDocument/2006/relationships/notesSlide" Target="/ppt/notesSlides/notesSlide15.xml" Id="R85f236d2e0a24c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上一小时</c:v>
                </c:pt>
                <c:pt idx="1">
                  <c:v>24h参考</c:v>
                </c:pt>
                <c:pt idx="2">
                  <c:v>168h参考</c:v>
                </c:pt>
                <c:pt idx="3">
                  <c:v>梯度提升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2382.6</c:v>
                </c:pt>
                <c:pt idx="1">
                  <c:v>8760.67</c:v>
                </c:pt>
                <c:pt idx="2">
                  <c:v>9774</c:v>
                </c:pt>
                <c:pt idx="3">
                  <c:v>1019.87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E7A73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完整模型</c:v>
                </c:pt>
                <c:pt idx="1">
                  <c:v>去新能源滞后</c:v>
                </c:pt>
                <c:pt idx="2">
                  <c:v>去滚动统计</c:v>
                </c:pt>
                <c:pt idx="3">
                  <c:v>仅日历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1019.87</c:v>
                </c:pt>
                <c:pt idx="1">
                  <c:v>1120.04</c:v>
                </c:pt>
                <c:pt idx="2">
                  <c:v>1035.03</c:v>
                </c:pt>
                <c:pt idx="3">
                  <c:v>9160.43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467A6-EE57-4ADF-AE1C-409D080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0DCEE-EEA7-4A3F-A8BC-4E243994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C0424-2455-4376-A4D1-AFF9EF56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>
            <a:defPPr>
              <a:def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2C510-102E-408D-A864-96656B7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面向新能源波动的净负荷预测与风险感知储能规划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0F35C-767D-41EE-8CAE-79965B2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科技创新组 | 公开数据回测原型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F13EC-7892-4B87-873A-E965CAC5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数据、模型、风险规则与风险感知调控均可由脚本复现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4827B-F257-4D61-80D9-EAC0FC5BD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3cdac163a40d1"/>
          <a:stretch xmlns:a="http://schemas.openxmlformats.org/drawingml/2006/main"/>
        </p:blipFill>
        <p:spPr>
          <a:xfrm xmlns:a="http://schemas.openxmlformats.org/drawingml/2006/main">
            <a:off x="7524750" y="2401661"/>
            <a:ext cx="3905250" cy="16736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5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04B60-4400-4409-BDC2-FE48ECF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工程问题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2332A-5FD1-467E-BCF0-CC2AFE5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新能源出力变化会放大净负荷爬坡与峰值风险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2ECFF-14EA-47BC-81A0-D296292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AA29C-83BE-4F10-A187-B25310FD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净负荷 = 总负荷 - 光伏发电 - 风电发电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BD1CE-B37C-4CE3-9352-E0A60D76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 关注三个问题：净负荷何时抬升、可再生能源何时快速下降、预测偏差何时持续扩大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B49EB-C9DF-4740-9570-2C01B324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系统定位：为园区或区域级能源管理提供可审计的风险研判参考。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7E067-E332-4AB8-9FAF-C77B81A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项目不声称实际部署、已实现节省或已确认故障。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3A745-DAD9-495C-A40F-41F9494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2</a:t>
            </a:r>
          </a:p>
        </p:txBody>
      </p:sp>
    </p:spTree>
    <p:extLst>
      <p:ext uri="{BB962C8B-B14F-4D97-AF65-F5344CB8AC3E}">
        <p14:creationId xmlns:p14="http://schemas.microsoft.com/office/powerpoint/2010/main" val="778074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33638-0810-4F9E-83A8-FE2EF94A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数据与质量证据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38F1C-C4FB-4348-9FA2-6A6088A3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Open Power System Data 德国小时级负荷、光伏与风电数据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A62D3-4C4F-4C53-B772-B1782B5D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999D-9802-4DCE-B887-1489F7D2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3569A-2915-4464-84BB-C66FB197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50,400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E8250-6FB2-4DF5-BA88-E2C588B3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有效小时记录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21C80-1B4E-4427-B771-141FCA99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B4730-AAC4-4863-B453-CABDF3C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2015-2020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534DA-619A-4962-AA60-626C47F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数据覆盖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8CCF-7F8B-4B0E-9D61-386E5FD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2029E-E9F6-44C4-AF56-05706549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59E42-CB42-4AB1-8621-4909BB9A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702BC-3EDD-4EEB-A910-578DDF17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9DC5C-3365-47B4-A757-A829AD52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 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10619-9E14-4225-8D17-256C3BB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公式误差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3D1C1-EBE7-466E-B831-CF08937985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826cf8a8b4490"/>
          <a:stretch xmlns:a="http://schemas.openxmlformats.org/drawingml/2006/main"/>
        </p:blipFill>
        <p:spPr>
          <a:xfrm xmlns:a="http://schemas.openxmlformats.org/drawingml/2006/main">
            <a:off x="936625" y="3095625"/>
            <a:ext cx="6556375" cy="28098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8413A-C83B-4C23-8A96-58618FF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E402B-C3DF-44F0-96FC-54F00F2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时间频率：60 分钟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缺失时间点：0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负值：0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净负荷缺失：105 行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缺失值未静默填补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700ED-232C-4000-B415-6C1C075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3</a:t>
            </a:r>
          </a:p>
        </p:txBody>
      </p:sp>
    </p:spTree>
    <p:extLst>
      <p:ext uri="{BB962C8B-B14F-4D97-AF65-F5344CB8AC3E}">
        <p14:creationId xmlns:p14="http://schemas.microsoft.com/office/powerpoint/2010/main" val="1626051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FCE13-5FD8-4863-8164-AE7CD6C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因果预测与滚动规划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331F8-5094-436F-B42A-29D89EE3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从一步预测扩展为直接 1--6 小时规划窗口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23E41-9367-4B8F-9E85-601B0214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A0CE1-BEB8-4B13-8B5C-0892ABDA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2114C-0B62-4E7F-BD0C-E5822CD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历史观测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4893-F355-43DB-B113-BC684447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负荷、光伏、风电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77B9D-7625-4AFF-A29D-50B707A1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>
            <a:def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78AC1-1381-4B59-B286-4D443510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ACCB1-9E88-434D-A108-3E3EA9E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直接预测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8E77D-A34B-4D1C-BEFE-496444B4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1--6 小时独立模型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仅使用发布时可得观测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5383A-DC95-4628-9AA8-D6D479C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>
            <a:def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B1DA2-4309-4EB3-A163-AC8E94E3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B024-F7F9-4E59-A353-B075B2E3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经验区间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27420-2F56-4C2C-8A3F-C590B428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验证残差校准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预测上界用于风险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BEAF5-4E66-42B4-B4A6-83571448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>
            <a:def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1F274-986E-484B-8692-2665595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75E7B-62F3-4DD6-9B79-C3B4AA7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滚动决策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1126B-8935-4CFD-889D-163DFB83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动态 SOC 储备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每小时重算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执行第一步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BD03E-E788-4563-A24F-B6881EF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1--6 小时预测服务于理论调控；直接 24 小时预报仍需发布时可得的天气或新能源预测输入。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AB656-19C5-4CB2-B455-F9C0794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4</a:t>
            </a:r>
          </a:p>
        </p:txBody>
      </p:sp>
    </p:spTree>
    <p:extLst>
      <p:ext uri="{BB962C8B-B14F-4D97-AF65-F5344CB8AC3E}">
        <p14:creationId xmlns:p14="http://schemas.microsoft.com/office/powerpoint/2010/main" val="430321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2762F-941F-4045-A8FB-B7CCD719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65380-F149-4624-AC4F-A2B2FC4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冻结测试期从 2019-08-09 21:00 UTC 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7906B-C7A5-4F97-B183-F46ED94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A3E44F4-D473-4D8A-BE66-050A156AC18B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4953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5c1eec9cf841f8"/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CE134-9D9B-481D-8564-FE05A82B2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78c571bfd4c61"/>
          <a:stretch xmlns:a="http://schemas.openxmlformats.org/drawingml/2006/main"/>
        </p:blipFill>
        <p:spPr>
          <a:xfrm xmlns:a="http://schemas.openxmlformats.org/drawingml/2006/main">
            <a:off x="6096000" y="2166403"/>
            <a:ext cx="5238750" cy="209657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12855-1D8F-4260-9F54-C9763204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梯度提升测试 MAE：1,019.87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C8B08-457C-4CDD-ABAB-FF5DB773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相对上一小时持平基线，MAE 下降 57.20%。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1964-E921-4967-9279-71B7D099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5</a:t>
            </a:r>
          </a:p>
        </p:txBody>
      </p:sp>
    </p:spTree>
    <p:extLst>
      <p:ext uri="{BB962C8B-B14F-4D97-AF65-F5344CB8AC3E}">
        <p14:creationId xmlns:p14="http://schemas.microsoft.com/office/powerpoint/2010/main" val="1138694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5421C-7A0E-4C86-BDC1-DA738A0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候选运行风险筛查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8C707-F65C-4713-9ED8-A52F535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所有阈值仅在验证期校准，再冻结应用到测试期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A8866-6F7B-4092-B4B4-9C01058B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4E334-71CF-48C2-8CD8-DC6D7A0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0EE22-491E-4C24-90BB-234A3FB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峰值负荷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A722-4E4B-4CC5-A271-55E9A1B7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预测净负荷 ≥ 55,406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963FB-B054-487E-A8AB-1E0304E2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70813-2B5C-4D3F-AE6A-EACFB6A1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光伏骤降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B95A7-1133-4FB7-B7ED-48BFD565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小时变化 ≤ -4,243 MW/h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08E83-7892-41ED-9352-9B72E03B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CF933-B69E-4A6E-A601-759614E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持续偏差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9F96D-3D06-4AD3-A7ED-31DB3327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残差超过 2,937 MW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且持续 3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5DCE4-9F55-4546-9EEC-6A7593A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测试期内 972 行至少触发一类候选风险。每个事件保留触发值、阈值与证据文本。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19E5C-4077-4FC1-ABC0-DA2CEC3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持续偏差：第三小时确认，延迟 2h。注入事件检出 25/25，点检出 25/75。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66B9-7CB3-4887-BD08-8BA7F81A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注入压力测试只验证人工场景下的规则响应，不代表真实故障检测准确率。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45E6-65FC-43EB-ADB0-D7ECC08E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6</a:t>
            </a:r>
          </a:p>
        </p:txBody>
      </p:sp>
    </p:spTree>
    <p:extLst>
      <p:ext uri="{BB962C8B-B14F-4D97-AF65-F5344CB8AC3E}">
        <p14:creationId xmlns:p14="http://schemas.microsoft.com/office/powerpoint/2010/main" val="2032410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27505-7ADE-47D3-9B24-1CFE1C8A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消融证据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58AF-3A2E-422F-B271-E45B30B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历史净负荷和新能源滞后信息均带来可测量增益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A580B-98FD-4824-BEE7-E038554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77E2053-75D7-4E0C-8B17-767DC5333348}"/>
              </a:ext>
            </a:extLst>
          </p:cNvPr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20521f18e943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A7E0-33C1-4A2C-BB10-1C006735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>
            <a:def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关键观察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705A-C35F-4180-9E43-F6646A68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去除新能源滞后后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100.17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去除滚动统计后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15.16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仅日历模型显著退化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DC18A-E10C-4E56-9F91-810C7CD6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结论限于当前数据集与冻结测试期。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9CDAF-810D-4B9C-ABB4-35A28E67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7</a:t>
            </a:r>
          </a:p>
        </p:txBody>
      </p:sp>
    </p:spTree>
    <p:extLst>
      <p:ext uri="{BB962C8B-B14F-4D97-AF65-F5344CB8AC3E}">
        <p14:creationId xmlns:p14="http://schemas.microsoft.com/office/powerpoint/2010/main" val="751075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A6CCA-1FCA-4C10-8B0A-EB313AA7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风险感知储能协同调控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A09B-0733-4919-9754-A0739451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动态 SOC 储备将预测上界和区间宽度转为可解释约束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1D16C-CB11-4CEC-A9B0-36DE448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51D9B-9814-4747-87AF-5349AAFC4A18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1150"/>
                <a:gridCol w="1581150"/>
                <a:gridCol w="1581150"/>
                <a:gridCol w="1581150"/>
                <a:gridCol w="1581150"/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固定储备 P95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风险感知 P95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差值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固定/风险感知循环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54,200.8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54,188.3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-12.5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 / 0.84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54,150.2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-34.9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 / 0.86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54,177.4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54,077.7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-99.7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 / 0.89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67881-42CE-4271-BD02-7633F29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>
            <a:def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8A707-E103-470A-BCA4-450D3360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目标：最小化未来 6h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预测上界的最大净负荷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约束：功率、SOC、效率、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动态储备与低谷充电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12E08-C7FE-48F1-B995-263AD8E8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原版对照降低 P95，但吞吐略升，全期最高点未降低。原版不确定性项始终饱和。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21625-7BF2-4D73-A06A-F0F81AC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补充按小时校准：组合 vs 固定储备 P95 -65.85 MW，吞吐 +9,648.40 MWh。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软储备目标未达 2,445 小时，期末 SOC 7,697.08 MWh（初始 15,000）。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3B4E4-B648-4D08-B57E-94F07389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补充分析为探索性实验。期末 SOC 未约束，不能据此推断长期收益或可靠性。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3F524-8194-42D9-9082-6B9E1AD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8</a:t>
            </a:r>
          </a:p>
        </p:txBody>
      </p:sp>
    </p:spTree>
    <p:extLst>
      <p:ext uri="{BB962C8B-B14F-4D97-AF65-F5344CB8AC3E}">
        <p14:creationId xmlns:p14="http://schemas.microsoft.com/office/powerpoint/2010/main" val="821092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9C7C5-272C-42D3-BA81-EE9CC2E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原版每日能量恢复的公平性复核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97187-B747-4035-9069-4D6E86C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417 个完整 UTC 日，同一硬 SOC 下限，补电负荷与损耗全部计入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A3C5F-9FEE-40C1-8EA2-5F087527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1DBF4-55AD-41E0-BA4C-6AA8A5AA92FF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独立日策略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(MWh)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固定，未恢复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53,905.90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69,122.05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216,309.70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动态，未恢复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53,900.95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69,256.00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168,688.69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固定，每日恢复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54,045.74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69,122.05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410,854.95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动态，每日恢复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54,030.65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69,256.00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350,858.30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2AAB-6FD9-463E-BE18-462C6A3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每日恢复：动态 P95 低 15.09 MW，吞吐少 59,996.65 MWh，最高点仍未降低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3218A-43EF-4895-B414-16BEB68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初末 SOC 均为 15,000 MWh，硬下限 4,500 MWh，违规与日末误差均为 0。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固定策略最高点更低。动态软目标仍有 17 小时未达，结论只支持部分指标取舍。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2C182-6BDF-4891-8C83-58C61509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探索性日实验。恢复模式另限制 SOC 上限为 50%，允许任意小时补电。</a:t>
            </a:r>
          </a:p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未恢复模式每天重置电量，仅为对照。模式差异不能只归因于日末等式。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8EA0A-4B3E-423D-A413-A16153ED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9</a:t>
            </a:r>
          </a:p>
        </p:txBody>
      </p:sp>
    </p:spTree>
    <p:extLst>
      <p:ext uri="{BB962C8B-B14F-4D97-AF65-F5344CB8AC3E}">
        <p14:creationId xmlns:p14="http://schemas.microsoft.com/office/powerpoint/2010/main" val="2114113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3C916-439E-473A-9008-4506C4A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极端峰值响应与循环代价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99737-3D97-4184-A5DA-BC9687E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点预测定位峰值，验证期 q99 触发软储备释放，保持硬下限与每日恢复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87506-A2DF-4AB9-BF9C-84ACAE1C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7FE38-A8F7-4403-8E32-69452C0F864F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417 日测试配置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(MWh)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69,256.00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54,030.65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350,858.30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仅软储备释放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69,122.05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54,030.65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353,178.75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仅点预测目标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68,657.77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53,839.53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616,017.69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新动态组合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68,610.15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53,860.55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651,031.03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新固定组合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68,610.15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53,829.99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851,572.50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626C9-FEF9-4856-A272-30A7236B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新动态全期最高峰降低 645.85 MW，P95 比原动态低 170.10 MW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CED6C-1DCB-4B48-9D2D-EE269EF8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原峰小时放电 1,250 MW，最高点转移。吞吐与损耗增加，193 小时软目标未达。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新固定最高峰相同、P95 更低，新动态吞吐少 200,541.46 MWh。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16435-856C-4A13-8CB7-A9A9A5C9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验证期内部诊断削峰 644.43 MW。设计发生在旧测试峰值已知后，仍为探索性证据。</a:t>
            </a:r>
          </a:p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阈值仅用验证预测校准，硬 SOC 违规和最大日末误差为 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61EC8-CBAB-4B11-A251-75C0416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10</a:t>
            </a:r>
          </a:p>
        </p:txBody>
      </p:sp>
    </p:spTree>
    <p:extLst>
      <p:ext uri="{BB962C8B-B14F-4D97-AF65-F5344CB8AC3E}">
        <p14:creationId xmlns:p14="http://schemas.microsoft.com/office/powerpoint/2010/main" val="1237737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7A401-25FD-4A17-85F4-4B673E7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2021 年冻结时间留出验证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E7D24-DCE4-40A4-8C0D-040F0A05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Energy-Charts.info 德国全年 365 日，下载前锁定协议，模型与阈值不再调整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F5D93-6634-4934-83CB-9D7CCF51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1B6C4-456C-47BD-8131-35018DF85160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 冻结配置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(MWh)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原固定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58,731.82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868,858.54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58,962.80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803,647.83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仅软储备释放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59,027.41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819,237.35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仅点预测目标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70,062.83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58,858.94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1,305,791.79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新动态组合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59,035.77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1,396,437.01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新固定组合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58,661.79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1,657,314.84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4DE7E-4CC1-483A-B1A6-E6BDE57B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全年最高点降低 1,250.00 MW，平均日最高点降低 237.39 MW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809B8-9492-4E67-B55E-D1DCD345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平均日削峰 95% 区间 [184.73, 293.93] MW，7 天配对区块、2,000 次。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全年 P95 升高 72.97 MW，Q3 最高点变差 230.18 MW，吞吐与损耗增加。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E71F4-18C4-4722-A305-33EC8A3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证据支持限定的后续年份极端削峰，P95 优势未复现，新固定也达到相同最高点。</a:t>
            </a:r>
          </a:p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同国修订历史数据，额外发布延迟、网络、价格和退化仍需核验。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CA6BD-38BF-4447-8207-02AACBA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11</a:t>
            </a:r>
          </a:p>
        </p:txBody>
      </p:sp>
    </p:spTree>
    <p:extLst>
      <p:ext uri="{BB962C8B-B14F-4D97-AF65-F5344CB8AC3E}">
        <p14:creationId xmlns:p14="http://schemas.microsoft.com/office/powerpoint/2010/main" val="1736179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FFBEC-3685-4939-9282-3DE844AD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有限实例的最优性证明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B3E13-49E5-4A4E-B77E-4B3B60A3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固定物理模型，只优化全年最高点，随后最小化离线吞吐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2C8BF-C124-4D2B-AF58-DAC50BA4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40812-7718-4491-91E7-2147BF9C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任何可行最高点 ≥ 原负荷最高点 − 最大放电功率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11521-F42F-4EE3-AA8F-50061CFD41F7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1714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物理最优最高点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现有新动态差距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离线最低吞吐 MWh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 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5,380.88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旧探索性测试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68,006.00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604.15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5,261.72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1A4D9-79F7-4DCA-884D-B9FD30D7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2021 年原最高点 70,449.90 − 1,250 = 69,199.90 MW，现有策略达到下界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6EED7-3661-4C03-ADC0-6A778E00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两组离线解均有精确有理数下界达到证明，1,564 个 LP 原始与对偶见证交叉核验。</a:t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新固定策略也达到相同最高点，数学证书不证明动态储备独有优势。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8F9FA-C591-4065-9D4A-EAD42EB2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离线解预知全年真实负荷。最低吞吐、P95 和所有未来在线场景不能混为同一最优。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406CA-CC09-4A62-BE41-B7FE7EA7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12</a:t>
            </a:r>
          </a:p>
        </p:txBody>
      </p:sp>
    </p:spTree>
    <p:extLst>
      <p:ext uri="{BB962C8B-B14F-4D97-AF65-F5344CB8AC3E}">
        <p14:creationId xmlns:p14="http://schemas.microsoft.com/office/powerpoint/2010/main" val="1342033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F4B06-7D2E-451F-B25F-11BE940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循环代价与运行边界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ECD31-9F55-43FB-8629-5876C835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新开发单独复核，原冻结证据保留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01D86-2BE4-4F31-BBAF-431D27C8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BF94F-ADED-46CD-AFCB-CE64F52F818C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762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 已知年开发复核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最高点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MWh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原冻结控制器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59,035.77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1,396,437.01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 0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59,169.51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1,389,976.34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 250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59,081.22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1,100,573.17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 500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69,699.90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59,120.42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827,610.50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4E930-0474-42D7-AC7C-2F2725E7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原验证期筛选未通过，保留原控制器。循环减少伴随最高点或 P95 变差。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EA76-6705-40FE-B028-707B262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四个固定季度周完成 68 组运行压力复核，含预测滞后、缺失和跨日运行。</a:t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已求解轨迹物理约束核验通过，效果随运行条件变化。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8F36C-DDE6-453E-BFE7-B533AE9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一小时区间覆盖率：固定 88.03%，滚动 89.82%。</a:t>
            </a:r>
          </a:p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滚动校准仅用发布时已观测残差，尚未反馈控制器，属于已知年份事后分析。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5D091-32E8-475D-A13D-3707230D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13</a:t>
            </a:r>
          </a:p>
        </p:txBody>
      </p:sp>
    </p:spTree>
    <p:extLst>
      <p:ext uri="{BB962C8B-B14F-4D97-AF65-F5344CB8AC3E}">
        <p14:creationId xmlns:p14="http://schemas.microsoft.com/office/powerpoint/2010/main" val="12000550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B1B38-6389-4048-AE34-E40E11C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2022 年锁定复验与年度差异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99069-CACA-40A8-B106-02401F7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下载前锁定原六组策略，365 个共享日，未重训或调参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3E677-3896-4F45-9689-C0C7FA8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4AA94-EA55-4347-9B8C-3F2280ACA040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3946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 冻结配置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原固定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71,010.97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54,973.63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71,010.97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54,948.09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仅储备释放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71,010.97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54,948.09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仅点预测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70,344.49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54,737.17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新动态组合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69,760.97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54,802.60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新固定组合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69,760.97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54,831.81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AEB7-32C3-4522-A833-BB4D34A0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全年最高点降低 1,250 MW，平均日降低 165.83 MW，区间 [106.43,227.73]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7C380-2DA3-409F-8C49-6C96E19E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全年 P95 低 145.49 MW，但改善区间覆盖零，四个季度 P95 均变差。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相对原动态吞吐多 300,478.17 MWh，一小时区间覆盖率降至 82.03%。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F7E85-E7D7-49B6-AEE6-2C84A9C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两年均复现极端削峰。尾部分位优势仍不稳定，循环代价与区间退化需保留。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5B177-3951-40E2-8D3F-2C41E743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14</a:t>
            </a:r>
          </a:p>
        </p:txBody>
      </p:sp>
    </p:spTree>
    <p:extLst>
      <p:ext uri="{BB962C8B-B14F-4D97-AF65-F5344CB8AC3E}">
        <p14:creationId xmlns:p14="http://schemas.microsoft.com/office/powerpoint/2010/main" val="14863261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13E2D-AF00-4869-AC36-E8F3E7D3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系统原型与下一研究关口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85534-6110-4AE4-9820-FE88FDB0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Streamlit MVP 已串联数据、预测、风险证据和风险感知调控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743AD-F545-49C4-AA9B-527C2093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0064-FE40-4792-9654-3B7AC3D0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4402B-242F-4C54-9D16-0E9B7A1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预测回测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风险事件详情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特征解释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理论调度建议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风险感知调控对照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25243-9A88-427F-AF7C-81C9713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已验证证据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921C3-9314-46B4-8707-4576F11B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342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滚动回测：5/5 窗口胜基线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均值：837.30 MW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测试区间覆盖率：86.92%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区间预警进入人工复核队列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A295C-61B7-4129-842F-80CE5BF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下一关口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06D9B-927E-4C68-8124-04D2D387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23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构造真正可在发布时获取的 24 小时输入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接入电价、退化和网络约束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增加跨区域验证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363CC-300B-4911-95D0-D2C5055E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可复现路径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E2208-738F-4F04-86CB-0513AEC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下载数据 → 质量检查 → 基线 → 模型 → 区间 → 风险 → 情景 → 仪表盘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0A3F3-265B-41C2-9F54-482C68A8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提交前：核查匿名要求、数据许可与每一项结果的脚本可再生性。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B4A32-33BE-4999-8ED9-7C82C86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15</a:t>
            </a:r>
          </a:p>
        </p:txBody>
      </p:sp>
    </p:spTree>
    <p:extLst>
      <p:ext uri="{BB962C8B-B14F-4D97-AF65-F5344CB8AC3E}">
        <p14:creationId xmlns:p14="http://schemas.microsoft.com/office/powerpoint/2010/main" val="2053065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2026-10-15T08:26:27.9650000Z</dcterms:created>
  <dcterms:modified xsi:type="dcterms:W3CDTF">2026-10-15T08:26:27.9650000Z</dcterms:modified>
</coreProperties>
</file>