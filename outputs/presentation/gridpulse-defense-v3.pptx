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bfd4d0f3240ed" /><Relationship Type="http://schemas.openxmlformats.org/officeDocument/2006/relationships/extended-properties" Target="/docProps/app.xml" Id="R48bfc8a8c4264856" /><Relationship Type="http://schemas.openxmlformats.org/officeDocument/2006/relationships/officeDocument" Target="/ppt/presentation.xml" Id="Rc08bc674efe5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614fae8dbd4fab"/>
  </p:sldMasterIdLst>
  <p:notesMasterIdLst>
    <p:notesMasterId xmlns:r="http://schemas.openxmlformats.org/officeDocument/2006/relationships" r:id="R09f5557e2b924739"/>
  </p:notesMasterIdLst>
  <p:sldIdLst>
    <p:sldId xmlns:r="http://schemas.openxmlformats.org/officeDocument/2006/relationships" id="256" r:id="R77341c1593364481"/>
    <p:sldId xmlns:r="http://schemas.openxmlformats.org/officeDocument/2006/relationships" id="257" r:id="R86d3936c25454644"/>
    <p:sldId xmlns:r="http://schemas.openxmlformats.org/officeDocument/2006/relationships" id="258" r:id="Rd4fccce92b574337"/>
    <p:sldId xmlns:r="http://schemas.openxmlformats.org/officeDocument/2006/relationships" id="259" r:id="R7e47e20ff6ef445d"/>
    <p:sldId xmlns:r="http://schemas.openxmlformats.org/officeDocument/2006/relationships" id="260" r:id="Rdc866db0cf8043ab"/>
    <p:sldId xmlns:r="http://schemas.openxmlformats.org/officeDocument/2006/relationships" id="261" r:id="R13670de02ceb4ced"/>
    <p:sldId xmlns:r="http://schemas.openxmlformats.org/officeDocument/2006/relationships" id="262" r:id="R0c37fc75c3d749ed"/>
    <p:sldId xmlns:r="http://schemas.openxmlformats.org/officeDocument/2006/relationships" id="263" r:id="R13595f6d15ee4dda"/>
    <p:sldId xmlns:r="http://schemas.openxmlformats.org/officeDocument/2006/relationships" id="264" r:id="R894e80ff83ac42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66397e0e244ed" /><Relationship Type="http://schemas.openxmlformats.org/officeDocument/2006/relationships/slideMaster" Target="/ppt/slideMasters/slideMaster1.xml" Id="Rff614fae8dbd4fab" /><Relationship Type="http://schemas.openxmlformats.org/officeDocument/2006/relationships/notesMaster" Target="/ppt/notesMasters/notesMaster1.xml" Id="R09f5557e2b924739" /><Relationship Type="http://schemas.openxmlformats.org/officeDocument/2006/relationships/presProps" Target="/ppt/presProps.xml" Id="Rb58df21a7cd84a31" /><Relationship Type="http://schemas.openxmlformats.org/officeDocument/2006/relationships/tableStyles" Target="/ppt/tableStyles.xml" Id="R3c9f93e69dd8432c" /><Relationship Type="http://schemas.openxmlformats.org/officeDocument/2006/relationships/slide" Target="/ppt/slides/slide1.xml" Id="R77341c1593364481" /><Relationship Type="http://schemas.openxmlformats.org/officeDocument/2006/relationships/slide" Target="/ppt/slides/slide2.xml" Id="R86d3936c25454644" /><Relationship Type="http://schemas.openxmlformats.org/officeDocument/2006/relationships/slide" Target="/ppt/slides/slide3.xml" Id="Rd4fccce92b574337" /><Relationship Type="http://schemas.openxmlformats.org/officeDocument/2006/relationships/slide" Target="/ppt/slides/slide4.xml" Id="R7e47e20ff6ef445d" /><Relationship Type="http://schemas.openxmlformats.org/officeDocument/2006/relationships/slide" Target="/ppt/slides/slide5.xml" Id="Rdc866db0cf8043ab" /><Relationship Type="http://schemas.openxmlformats.org/officeDocument/2006/relationships/slide" Target="/ppt/slides/slide6.xml" Id="R13670de02ceb4ced" /><Relationship Type="http://schemas.openxmlformats.org/officeDocument/2006/relationships/slide" Target="/ppt/slides/slide7.xml" Id="R0c37fc75c3d749ed" /><Relationship Type="http://schemas.openxmlformats.org/officeDocument/2006/relationships/slide" Target="/ppt/slides/slide8.xml" Id="R13595f6d15ee4dda" /><Relationship Type="http://schemas.openxmlformats.org/officeDocument/2006/relationships/slide" Target="/ppt/slides/slide9.xml" Id="R894e80ff83ac42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84bd964ad5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ec6ee31416421b" /><Relationship Type="http://schemas.openxmlformats.org/officeDocument/2006/relationships/notesMaster" Target="/ppt/notesMasters/notesMaster1.xml" Id="R7e0c4bc21b214c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7eea6c9f847ab" /><Relationship Type="http://schemas.openxmlformats.org/officeDocument/2006/relationships/notesMaster" Target="/ppt/notesMasters/notesMaster1.xml" Id="Re6e197e5657841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232734d1f4991" /><Relationship Type="http://schemas.openxmlformats.org/officeDocument/2006/relationships/notesMaster" Target="/ppt/notesMasters/notesMaster1.xml" Id="R4121d8d5e70745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f4cd21f4642d8" /><Relationship Type="http://schemas.openxmlformats.org/officeDocument/2006/relationships/notesMaster" Target="/ppt/notesMasters/notesMaster1.xml" Id="R4858168f7efd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abf2ce20f49fe" /><Relationship Type="http://schemas.openxmlformats.org/officeDocument/2006/relationships/notesMaster" Target="/ppt/notesMasters/notesMaster1.xml" Id="R23b84eea87604c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5f0424f8744610" /><Relationship Type="http://schemas.openxmlformats.org/officeDocument/2006/relationships/notesMaster" Target="/ppt/notesMasters/notesMaster1.xml" Id="Rec400ddd80b4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99e4512114cb5" /><Relationship Type="http://schemas.openxmlformats.org/officeDocument/2006/relationships/notesMaster" Target="/ppt/notesMasters/notesMaster1.xml" Id="R14410d450243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f318f659e4d07" /><Relationship Type="http://schemas.openxmlformats.org/officeDocument/2006/relationships/notesMaster" Target="/ppt/notesMasters/notesMaster1.xml" Id="R50a1fb8fedd7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29a79d3c6f4e17" /><Relationship Type="http://schemas.openxmlformats.org/officeDocument/2006/relationships/notesMaster" Target="/ppt/notesMasters/notesMaster1.xml" Id="Re32af294724b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来源：GridPulse 输出图 outputs/figures/02_representative_week.png。项目范围：德国公开历史数据回测，不含学校或指导教师信息。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问题定义来自项目设计。净负荷公式使用公开 OPSD 字段构造。风险输出为候选运行风险。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来源：OPSD Time Series 2020-10-06，DOI 10.25832/time_series/2020-10-06；质量指标来自 outputs/metrics/data-quality-report.json。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方法来自 src/features.py、src/models.py、src/multihorizon.py 和 docs/risk-aware-control.md。每个时距模型只使用目标时刻前对应时距及更早的观测。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模型指标来源：outputs/models/day3_model_metrics.json。右图来源：outputs/figures/02_representative_week.png，仅展示原始变量关系，不是预测曲线。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来源：outputs/alerts/alert_evaluation.json 和 docs/day4-risk-alerts.md。风险不等同于确认故障。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来源：outputs/models/day3_model_metrics.json，Day 6 消融。结果不构成因果或跨区域泛化结论。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来源：outputs/scenarios/storage_scenario_metrics.json 和 docs/risk-aware-control.md。为理论回测，不是部署、节省、寿命或可靠性结论。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系统功能来源：app.py；滚动回测来源：outputs/models/rolling_backtest_metrics.json；风险感知调控来源：outputs/scenarios/storage_scenario_metrics.json。下一关口为研究计划，尚未实施。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7184db0b54a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2dfec05804168" /><Relationship Type="http://schemas.openxmlformats.org/officeDocument/2006/relationships/slideLayout" Target="/ppt/slideLayouts/slideLayout1.xml" Id="R17eafca1e8d2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afca1e8d2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225b74e074237" /><Relationship Type="http://schemas.openxmlformats.org/officeDocument/2006/relationships/image" Target="/ppt/media/image.png" Id="Rd0415a5d97be4ee8" /><Relationship Type="http://schemas.openxmlformats.org/officeDocument/2006/relationships/notesSlide" Target="/ppt/notesSlides/notesSlide1.xml" Id="R59f5650468c6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b1cfc3808436f" /><Relationship Type="http://schemas.openxmlformats.org/officeDocument/2006/relationships/notesSlide" Target="/ppt/notesSlides/notesSlide2.xml" Id="R36e07e738396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5338a3c8e4f4d" /><Relationship Type="http://schemas.openxmlformats.org/officeDocument/2006/relationships/image" Target="/ppt/media/image2.png" Id="R18782f9588e143a2" /><Relationship Type="http://schemas.openxmlformats.org/officeDocument/2006/relationships/notesSlide" Target="/ppt/notesSlides/notesSlide3.xml" Id="R15e7cb12621e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4f383286e4eb7" /><Relationship Type="http://schemas.openxmlformats.org/officeDocument/2006/relationships/notesSlide" Target="/ppt/notesSlides/notesSlide4.xml" Id="R0bb88cea8155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47776b13407e" /><Relationship Type="http://schemas.openxmlformats.org/officeDocument/2006/relationships/chart" Target="/ppt/slides/charts/chart1.xml" Id="Rdd38d3261fe84394" /><Relationship Type="http://schemas.openxmlformats.org/officeDocument/2006/relationships/image" Target="/ppt/media/image3.png" Id="R365173b353fd4f6a" /><Relationship Type="http://schemas.openxmlformats.org/officeDocument/2006/relationships/notesSlide" Target="/ppt/notesSlides/notesSlide5.xml" Id="Rd5c39a9dc3bd45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8f97f4918498f" /><Relationship Type="http://schemas.openxmlformats.org/officeDocument/2006/relationships/notesSlide" Target="/ppt/notesSlides/notesSlide6.xml" Id="R3cd50c177229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df797cb9f44fd" /><Relationship Type="http://schemas.openxmlformats.org/officeDocument/2006/relationships/chart" Target="/ppt/slides/charts/chart2.xml" Id="R402ca00ebd764ed5" /><Relationship Type="http://schemas.openxmlformats.org/officeDocument/2006/relationships/notesSlide" Target="/ppt/notesSlides/notesSlide7.xml" Id="Rdf94766fd30745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377390c8b43d2" /><Relationship Type="http://schemas.openxmlformats.org/officeDocument/2006/relationships/notesSlide" Target="/ppt/notesSlides/notesSlide8.xml" Id="Rdedbdcd6843648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ac3d9fcb945b4" /><Relationship Type="http://schemas.openxmlformats.org/officeDocument/2006/relationships/notesSlide" Target="/ppt/notesSlides/notesSlide9.xml" Id="Rf99ba72c0778473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Data'!$A$2:$A$4</c:f>
              <c:strCache>
                <c:ptCount val="3"/>
                <c:pt idx="0">
                  <c:v>季节性朴素</c:v>
                </c:pt>
                <c:pt idx="1">
                  <c:v>随机森林</c:v>
                </c:pt>
                <c:pt idx="2">
                  <c:v>梯度提升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8760.67</c:v>
                </c:pt>
                <c:pt idx="1">
                  <c:v>1126.88</c:v>
                </c:pt>
                <c:pt idx="2">
                  <c:v>1019.87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E7A73B"/>
            </a:solidFill>
          </c:spPr>
          <c:cat>
            <c:strRef>
              <c:f>'Chart Data'!$A$2:$A$5</c:f>
              <c:strCache>
                <c:ptCount val="4"/>
                <c:pt idx="0">
                  <c:v>完整模型</c:v>
                </c:pt>
                <c:pt idx="1">
                  <c:v>去新能源滞后</c:v>
                </c:pt>
                <c:pt idx="2">
                  <c:v>去滚动统计</c:v>
                </c:pt>
                <c:pt idx="3">
                  <c:v>仅日历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1019.87</c:v>
                </c:pt>
                <c:pt idx="1">
                  <c:v>1120.04</c:v>
                </c:pt>
                <c:pt idx="2">
                  <c:v>1035.03</c:v>
                </c:pt>
                <c:pt idx="3">
                  <c:v>9160.43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B9E41-2457-4405-9A17-95B375C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2245-E365-4C48-A137-7CB7B10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DBFF8-F2FC-4531-B78F-708D2548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D7559-2E83-43AF-A7D9-C2FE20B6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面向新能源波动的净负荷预测与候选运行风险研判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10E8F-0AF0-4C0D-8D54-B5B5E9C9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科技创新组 | 公开数据回测原型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ACB8F-C795-453D-A240-9DFC12E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数据、模型、风险规则与风险感知调控均可由脚本复现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15a5d97be4ee8"/>
          <a:stretch xmlns:a="http://schemas.openxmlformats.org/drawingml/2006/main"/>
        </p:blipFill>
        <p:spPr>
          <a:xfrm xmlns:a="http://schemas.openxmlformats.org/drawingml/2006/main">
            <a:off x="7524750" y="2401661"/>
            <a:ext cx="3905250" cy="16736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C7FF6-A8C3-4402-B69F-48EED92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A4429-B736-4259-8829-F9D06A7B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新能源出力变化会放大净负荷爬坡与峰值风险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F656-93DC-4F0E-801C-E58F8DAF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08AF7-020C-4C62-83F2-B8DF71B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净负荷 = 总负荷 - 光伏发电 - 风电发电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F21C-B66C-4C51-9484-F0A40D26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 关注三个问题：净负荷何时抬升、可再生能源何时快速下降、预测偏差何时持续扩大。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EF5BE-5DFE-4C08-A996-C88635B0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系统定位：为园区或区域级能源管理提供可审计的风险研判参考。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2D7CD-9BF7-4075-9258-FE83D482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项目不声称实际部署、已实现节省或已确认故障。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47E6-9729-45F9-89F4-9E635301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2</a:t>
            </a:r>
          </a:p>
        </p:txBody>
      </p:sp>
    </p:spTree>
    <p:extLst>
      <p:ext uri="{BB962C8B-B14F-4D97-AF65-F5344CB8AC3E}">
        <p14:creationId xmlns:p14="http://schemas.microsoft.com/office/powerpoint/2010/main" val="534456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A4136-8E57-4E68-8BEB-D078410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数据与质量证据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553B8-7643-4036-8B03-7864540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Open Power System Data 德国小时级负荷、光伏与风电数据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6D0C4-89A0-4FB5-A8FA-044F212C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5845E-A5FF-4442-9507-A43DF5E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7722E-30F3-49C0-9A27-9304E4C6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50,400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5E5D3-D610-4627-8AE7-5361C093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有效小时记录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DFF70-5D42-4473-B59F-CB664734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7BAEA-E1D3-4791-B060-59828FB5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2015-2020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84686-06C7-4DE5-AF3F-5660F3C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数据覆盖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DAB6A-EDF6-44B8-9E0C-9BAB071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0521-7D45-4785-94CB-F1A16B7E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582B6-802B-44B8-8F3D-DB1BC91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CD8E8-C5E6-4BE2-9CD9-9220178E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62035-1C37-41EF-A6BD-8668496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56FAA-15B6-4E7C-A1B7-86D583A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公式误差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82f9588e143a2"/>
          <a:stretch xmlns:a="http://schemas.openxmlformats.org/drawingml/2006/main"/>
        </p:blipFill>
        <p:spPr>
          <a:xfrm xmlns:a="http://schemas.openxmlformats.org/drawingml/2006/main">
            <a:off x="936625" y="3095625"/>
            <a:ext cx="6556375" cy="28098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012BB-BD52-4590-8724-1BAC22E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D131B-1C77-4CE3-A96E-53CF58B6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时间频率：60 分钟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缺失时间点：0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负值：0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净负荷缺失：105 行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缺失值未静默填补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D3390-4CD5-459D-8A07-0C1385A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3</a:t>
            </a:r>
          </a:p>
        </p:txBody>
      </p:sp>
    </p:spTree>
    <p:extLst>
      <p:ext uri="{BB962C8B-B14F-4D97-AF65-F5344CB8AC3E}">
        <p14:creationId xmlns:p14="http://schemas.microsoft.com/office/powerpoint/2010/main" val="1264479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122FB-1765-4336-BAE3-2C99879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因果预测与滚动规划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77F97-7F99-4638-BBF6-AAD0C6F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从一步预测扩展为直接 1--6 小时规划窗口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97DE-4737-41F9-A0C4-8AD28180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B7B4-74A2-400C-B165-FE2F88C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979C2-D0DB-4C04-9D86-E67DEF2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历史观测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F5168-62E2-4D6D-8918-FFD12BA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负荷、光伏、风电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A3A7-AF94-4E4E-A174-23E4B85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A66A-F01E-4527-84A4-2F8EF317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D5EE1-2238-4FED-A2BA-22AF3C9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直接预测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93B2-53E4-4D4C-BE28-872B5DC3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1--6 小时独立模型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仅使用发布时可得观测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CA9BC-C62B-4EC1-96D4-24BC092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1C88D-1F9A-44FB-8EEE-D494528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0BE75-5678-4468-9A62-D6A9B7D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经验区间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1DF97-347D-4616-8C23-4B0BF82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验证残差校准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预测上界用于风险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22779-51F2-4EF9-8051-0B615430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61173-BD20-476B-AA60-BA19125B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684F5-B175-40BF-8865-45354729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滚动决策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D0E56-55E0-4A1D-A896-C9327BC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 SOC 储备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每小时重算并执行第一步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B4F22-8667-4687-B16E-9022F04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1--6 小时预测服务于理论调控；直接 24 小时预报仍需发布时可得的天气或新能源预测输入。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C7113-F2F4-4B85-8A1E-2E4484D4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4</a:t>
            </a:r>
          </a:p>
        </p:txBody>
      </p:sp>
    </p:spTree>
    <p:extLst>
      <p:ext uri="{BB962C8B-B14F-4D97-AF65-F5344CB8AC3E}">
        <p14:creationId xmlns:p14="http://schemas.microsoft.com/office/powerpoint/2010/main" val="1991882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2581D-D27C-4BCE-AE33-FA840E0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3345C-81BA-4545-9E8E-BE70EE27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冻结测试期从 2019-08-09 21:00 UTC 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900F8-B876-45EE-AF2D-C74AFF5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4953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38d3261fe84394"/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173b353fd4f6a"/>
          <a:stretch xmlns:a="http://schemas.openxmlformats.org/drawingml/2006/main"/>
        </p:blipFill>
        <p:spPr>
          <a:xfrm xmlns:a="http://schemas.openxmlformats.org/drawingml/2006/main">
            <a:off x="6096000" y="2092098"/>
            <a:ext cx="5238750" cy="22451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7F188-E8E6-489C-B38A-8112E79B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梯度提升测试 MAE：1,019.87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B4BA2-39D0-4861-9A11-63AB5D1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相对季节性朴素参考，MAE 下降 88.36%。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8A4FE-2EA9-4BCB-8817-70D0DF4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5</a:t>
            </a:r>
          </a:p>
        </p:txBody>
      </p:sp>
    </p:spTree>
    <p:extLst>
      <p:ext uri="{BB962C8B-B14F-4D97-AF65-F5344CB8AC3E}">
        <p14:creationId xmlns:p14="http://schemas.microsoft.com/office/powerpoint/2010/main" val="894478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4A44F-CE85-4FA8-90CC-0800775C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候选运行风险筛查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BFB4F-649B-4F54-9CE9-325F8D5D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所有阈值仅在验证期校准，再冻结应用到测试期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2096F-46E4-4F6D-91DC-00CCC348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AB3F4-CCE8-4639-B867-8835753E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F250D-7098-4CE3-AD0A-6B83433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峰值负荷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6AACE-8CB7-4378-B9AF-B2B334A6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预测净负荷 ≥ 55,406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EE76-1424-43C1-9D76-CE44E89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31698-E1D4-4BBA-89EA-EDE8EC9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光伏骤降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F51D7-FF14-4ECD-BB6F-3E6D350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小时变化 ≤ -4,243 MW/h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EEB1-E3E5-47A5-9675-397F5DC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6451F-0F4B-45B7-8527-20A39BF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持续偏差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291F2-DF68-48E7-8984-CB6E36F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残差超过 2,937 MW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且持续 3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F3EED-A854-47FA-94E8-4CE045DB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测试期内 1,023 行至少触发一类候选风险。每个事件保留触发值、阈值与证据文本。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AD35D-0028-4CF4-9B3E-D50706A1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注入压力测试仅验证规则对人工场景的响应，不代表真实故障检测准确率。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CF7B6-2EB6-43F2-AAAF-4233C7C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6</a:t>
            </a:r>
          </a:p>
        </p:txBody>
      </p:sp>
    </p:spTree>
    <p:extLst>
      <p:ext uri="{BB962C8B-B14F-4D97-AF65-F5344CB8AC3E}">
        <p14:creationId xmlns:p14="http://schemas.microsoft.com/office/powerpoint/2010/main" val="1240536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CE466-FAAB-421D-8D21-7F93AE96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消融证据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8D7E9-1F7E-4E22-AD25-719B6B64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历史净负荷和新能源滞后信息均带来可测量增益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9B45B-53DF-416B-8D93-6306D50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2ca00ebd764e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A8AD-AE9A-4074-B640-FF92F76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E9131-0E4E-4E0B-A234-2BA0C779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去除新能源滞后后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100.17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去除滚动统计后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15.16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仅日历模型显著退化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1983-B750-4F6B-868A-D59C74F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结论限于当前数据集与冻结测试期。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E93DC-A8E9-4665-B131-0DE55A94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7</a:t>
            </a:r>
          </a:p>
        </p:txBody>
      </p:sp>
    </p:spTree>
    <p:extLst>
      <p:ext uri="{BB962C8B-B14F-4D97-AF65-F5344CB8AC3E}">
        <p14:creationId xmlns:p14="http://schemas.microsoft.com/office/powerpoint/2010/main" val="797308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C924A-08EC-49C7-8BAD-3A4D9161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风险感知储能协同调控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D00E5-0856-4E31-BA1B-15DAC6F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动态 SOC 储备将预测上界和区间宽度转为可解释约束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826BC-AA1A-401E-8FAE-B89BA96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1150"/>
                <a:gridCol w="1581150"/>
                <a:gridCol w="1581150"/>
                <a:gridCol w="1581150"/>
                <a:gridCol w="1581150"/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固定储备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风险感知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差值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固定/风险感知循环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54,186.8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54,188.3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+1.5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12.59 / 0.84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54,150.2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-34.9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12.03 / 0.86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54,077.7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-107.3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11.65 / 0.89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77A4-C413-4DA2-BC29-C4BE10D1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9405-AAB5-4914-8F5A-6818114D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目标：最小化未来 6h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预测上界的最大净负荷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约束：功率、SOC、效率、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动态储备与低谷充电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FD1DA-3CB7-4CFE-AC49-C4BAED6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20/30 GWh 情景的风险感知策略降低 P95，并以显著更低理论吞吐保留储备；它不追求单一历史最高点的激进削峰。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0BF8-2FEE-4985-8A9C-59BD098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8</a:t>
            </a:r>
          </a:p>
        </p:txBody>
      </p:sp>
    </p:spTree>
    <p:extLst>
      <p:ext uri="{BB962C8B-B14F-4D97-AF65-F5344CB8AC3E}">
        <p14:creationId xmlns:p14="http://schemas.microsoft.com/office/powerpoint/2010/main" val="796619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ECF0E-8776-401E-9116-BF236C15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系统原型与下一研究关口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EBC15-1DBB-401F-B185-93CF604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Streamlit MVP 已串联数据、预测、风险证据和风险感知调控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829E5-FD5F-4CD1-984C-62E45A39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18646-DE07-4E87-9C87-9B3F5D9D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3C573-0299-4385-A285-05F7EDB1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预测回测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风险事件详情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特征解释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理论调度建议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风险感知调控对照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19578-CE8A-403B-AC5A-7DF946C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已验证证据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604F9-E226-49B9-A54B-4B2E1FD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342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滚动回测：5/5 窗口胜基线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均值：837.30 MW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测试区间覆盖率：86.92%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区间预警进入人工复核队列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7F6DC-D130-4224-9E4B-3CC75791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下一关口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17DA4-44E4-40DC-8F2C-A8BA2CE8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23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构造真正可在发布时获取的 24 小时输入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接入电价、退化和网络约束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增加跨区域验证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13AAA-2398-4053-8B80-2A5861E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可复现路径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E75F7-CBFB-4209-95C0-74596763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下载数据 → 质量检查 → 基线 → 模型 → 区间 → 风险 → 情景 → 仪表盘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18671-8577-4992-B351-3F3A007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提交前：核查匿名要求、数据许可与每一项结果的脚本可再生性。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9EB60-F6D6-49CC-9A90-805EF33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9</a:t>
            </a:r>
          </a:p>
        </p:txBody>
      </p:sp>
    </p:spTree>
    <p:extLst>
      <p:ext uri="{BB962C8B-B14F-4D97-AF65-F5344CB8AC3E}">
        <p14:creationId xmlns:p14="http://schemas.microsoft.com/office/powerpoint/2010/main" val="1492258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2026-10-04T04:00:37.6830000Z</dcterms:created>
  <dcterms:modified xsi:type="dcterms:W3CDTF">2026-10-04T04:00:37.6830000Z</dcterms:modified>
</coreProperties>
</file>