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169abdda1f4818" /><Relationship Type="http://schemas.openxmlformats.org/officeDocument/2006/relationships/extended-properties" Target="/docProps/app.xml" Id="R3143941fb43c4208" /><Relationship Type="http://schemas.openxmlformats.org/officeDocument/2006/relationships/officeDocument" Target="/ppt/presentation.xml" Id="R242aae68beee47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735143eb444d53"/>
  </p:sldMasterIdLst>
  <p:notesMasterIdLst>
    <p:notesMasterId xmlns:r="http://schemas.openxmlformats.org/officeDocument/2006/relationships" r:id="Rad9e8aed121b403b"/>
  </p:notesMasterIdLst>
  <p:sldIdLst>
    <p:sldId xmlns:r="http://schemas.openxmlformats.org/officeDocument/2006/relationships" id="256" r:id="R1d11af21e7174313"/>
    <p:sldId xmlns:r="http://schemas.openxmlformats.org/officeDocument/2006/relationships" id="257" r:id="R974d6f0bc8c34214"/>
    <p:sldId xmlns:r="http://schemas.openxmlformats.org/officeDocument/2006/relationships" id="258" r:id="R7000a4d518de47d6"/>
    <p:sldId xmlns:r="http://schemas.openxmlformats.org/officeDocument/2006/relationships" id="259" r:id="R24a0b80041b94ffe"/>
    <p:sldId xmlns:r="http://schemas.openxmlformats.org/officeDocument/2006/relationships" id="260" r:id="R04c8de17fb114381"/>
    <p:sldId xmlns:r="http://schemas.openxmlformats.org/officeDocument/2006/relationships" id="261" r:id="Rffed910445d245d4"/>
    <p:sldId xmlns:r="http://schemas.openxmlformats.org/officeDocument/2006/relationships" id="262" r:id="R61f0716414994b35"/>
    <p:sldId xmlns:r="http://schemas.openxmlformats.org/officeDocument/2006/relationships" id="263" r:id="Ra806b983b5c14123"/>
    <p:sldId xmlns:r="http://schemas.openxmlformats.org/officeDocument/2006/relationships" id="264" r:id="R5970e626a94547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9094994b834383" /><Relationship Type="http://schemas.openxmlformats.org/officeDocument/2006/relationships/slideMaster" Target="/ppt/slideMasters/slideMaster1.xml" Id="R40735143eb444d53" /><Relationship Type="http://schemas.openxmlformats.org/officeDocument/2006/relationships/notesMaster" Target="/ppt/notesMasters/notesMaster1.xml" Id="Rad9e8aed121b403b" /><Relationship Type="http://schemas.openxmlformats.org/officeDocument/2006/relationships/presProps" Target="/ppt/presProps.xml" Id="Rfc3394fd8c334f5a" /><Relationship Type="http://schemas.openxmlformats.org/officeDocument/2006/relationships/tableStyles" Target="/ppt/tableStyles.xml" Id="R6e617ce55a414b3e" /><Relationship Type="http://schemas.openxmlformats.org/officeDocument/2006/relationships/slide" Target="/ppt/slides/slide1.xml" Id="R1d11af21e7174313" /><Relationship Type="http://schemas.openxmlformats.org/officeDocument/2006/relationships/slide" Target="/ppt/slides/slide2.xml" Id="R974d6f0bc8c34214" /><Relationship Type="http://schemas.openxmlformats.org/officeDocument/2006/relationships/slide" Target="/ppt/slides/slide3.xml" Id="R7000a4d518de47d6" /><Relationship Type="http://schemas.openxmlformats.org/officeDocument/2006/relationships/slide" Target="/ppt/slides/slide4.xml" Id="R24a0b80041b94ffe" /><Relationship Type="http://schemas.openxmlformats.org/officeDocument/2006/relationships/slide" Target="/ppt/slides/slide5.xml" Id="R04c8de17fb114381" /><Relationship Type="http://schemas.openxmlformats.org/officeDocument/2006/relationships/slide" Target="/ppt/slides/slide6.xml" Id="Rffed910445d245d4" /><Relationship Type="http://schemas.openxmlformats.org/officeDocument/2006/relationships/slide" Target="/ppt/slides/slide7.xml" Id="R61f0716414994b35" /><Relationship Type="http://schemas.openxmlformats.org/officeDocument/2006/relationships/slide" Target="/ppt/slides/slide8.xml" Id="Ra806b983b5c14123" /><Relationship Type="http://schemas.openxmlformats.org/officeDocument/2006/relationships/slide" Target="/ppt/slides/slide9.xml" Id="R5970e626a94547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7321e4da8e4b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6cd5d19f174481" /><Relationship Type="http://schemas.openxmlformats.org/officeDocument/2006/relationships/notesMaster" Target="/ppt/notesMasters/notesMaster1.xml" Id="R70b3bced449845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03f35ebd16440c" /><Relationship Type="http://schemas.openxmlformats.org/officeDocument/2006/relationships/notesMaster" Target="/ppt/notesMasters/notesMaster1.xml" Id="R7127bacbf6974e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9aa05e29564c42" /><Relationship Type="http://schemas.openxmlformats.org/officeDocument/2006/relationships/notesMaster" Target="/ppt/notesMasters/notesMaster1.xml" Id="R8696969c5edc4b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53829a7e114216" /><Relationship Type="http://schemas.openxmlformats.org/officeDocument/2006/relationships/notesMaster" Target="/ppt/notesMasters/notesMaster1.xml" Id="R86a519e0a14a4c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6519952cc84cca" /><Relationship Type="http://schemas.openxmlformats.org/officeDocument/2006/relationships/notesMaster" Target="/ppt/notesMasters/notesMaster1.xml" Id="R961dd39821ec4e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e1ba1efd6142c8" /><Relationship Type="http://schemas.openxmlformats.org/officeDocument/2006/relationships/notesMaster" Target="/ppt/notesMasters/notesMaster1.xml" Id="R38f21b7a461849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64593ab91246c6" /><Relationship Type="http://schemas.openxmlformats.org/officeDocument/2006/relationships/notesMaster" Target="/ppt/notesMasters/notesMaster1.xml" Id="R288964c207754d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46c0fd32f840ed" /><Relationship Type="http://schemas.openxmlformats.org/officeDocument/2006/relationships/notesMaster" Target="/ppt/notesMasters/notesMaster1.xml" Id="Rdf3c282b1f314e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61f0bbf3ad430d" /><Relationship Type="http://schemas.openxmlformats.org/officeDocument/2006/relationships/notesMaster" Target="/ppt/notesMasters/notesMaster1.xml" Id="Rd0e629d2921d40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来源：GridPulse 输出图 outputs/figures/02_representative_week.png。项目范围：德国公开历史数据回测，不含学校或指导教师信息。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问题定义来自项目设计。净负荷公式使用公开 OPSD 字段构造。风险输出为候选运行风险。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来源：OPSD Time Series 2020-10-06，DOI 10.25832/time_series/2020-10-06；质量指标来自 outputs/metrics/data-quality-report.json。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方法来自 src/features.py、src/models.py 和 docs/day2-baseline-protocol.md。没有使用未来观测构造特征。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模型指标来源：outputs/models/day3_model_metrics.json。右图来源：outputs/figures/02_representative_week.png，仅展示原始变量关系，不是预测曲线。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来源：outputs/alerts/alert_evaluation.json 和 docs/day4-risk-alerts.md。风险不等同于确认故障。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来源：outputs/models/day3_model_metrics.json，Day 6 消融。结果不构成因果或跨区域泛化结论。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来源：outputs/scenarios/storage_scenario_metrics.json。为理论情景，不是部署、节省或可靠性结论。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系统功能来源：app.py；滚动回测来源：outputs/models/rolling_backtest_metrics.json；区间覆盖率来源：outputs/models/day3_model_metrics.json。下一关口为研究计划，尚未实施。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b90377e8244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d9ff1895ac4054" /><Relationship Type="http://schemas.openxmlformats.org/officeDocument/2006/relationships/slideLayout" Target="/ppt/slideLayouts/slideLayout1.xml" Id="R7eff885ac48c40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ff885ac48c40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97be004a04a3d" /><Relationship Type="http://schemas.openxmlformats.org/officeDocument/2006/relationships/image" Target="/ppt/media/image.png" Id="Raca52ec7536f41df" /><Relationship Type="http://schemas.openxmlformats.org/officeDocument/2006/relationships/notesSlide" Target="/ppt/notesSlides/notesSlide1.xml" Id="Rba800b2f445c44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802cdd5154843" /><Relationship Type="http://schemas.openxmlformats.org/officeDocument/2006/relationships/notesSlide" Target="/ppt/notesSlides/notesSlide2.xml" Id="Rf182e7ebb8f149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f9cb237064fbc" /><Relationship Type="http://schemas.openxmlformats.org/officeDocument/2006/relationships/image" Target="/ppt/media/image2.png" Id="R45ca02866e594728" /><Relationship Type="http://schemas.openxmlformats.org/officeDocument/2006/relationships/notesSlide" Target="/ppt/notesSlides/notesSlide3.xml" Id="R51bfaebdf6414b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6d4ced5034b05" /><Relationship Type="http://schemas.openxmlformats.org/officeDocument/2006/relationships/notesSlide" Target="/ppt/notesSlides/notesSlide4.xml" Id="R79bcdba9349840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221cafde44037" /><Relationship Type="http://schemas.openxmlformats.org/officeDocument/2006/relationships/chart" Target="/ppt/slides/charts/chart1.xml" Id="R2e28219ad25a4cfd" /><Relationship Type="http://schemas.openxmlformats.org/officeDocument/2006/relationships/image" Target="/ppt/media/image3.png" Id="R985ace205e55474e" /><Relationship Type="http://schemas.openxmlformats.org/officeDocument/2006/relationships/notesSlide" Target="/ppt/notesSlides/notesSlide5.xml" Id="R8b033615e7844c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d88f67747453f" /><Relationship Type="http://schemas.openxmlformats.org/officeDocument/2006/relationships/notesSlide" Target="/ppt/notesSlides/notesSlide6.xml" Id="R1832d3bbf5874e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e10fb52534ae5" /><Relationship Type="http://schemas.openxmlformats.org/officeDocument/2006/relationships/chart" Target="/ppt/slides/charts/chart2.xml" Id="R3ec230937c7e4abc" /><Relationship Type="http://schemas.openxmlformats.org/officeDocument/2006/relationships/notesSlide" Target="/ppt/notesSlides/notesSlide7.xml" Id="R0feb505b082143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3810fe06643d6" /><Relationship Type="http://schemas.openxmlformats.org/officeDocument/2006/relationships/notesSlide" Target="/ppt/notesSlides/notesSlide8.xml" Id="R9335a69a031c4f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b2f7bc35e434a" /><Relationship Type="http://schemas.openxmlformats.org/officeDocument/2006/relationships/notesSlide" Target="/ppt/notesSlides/notesSlide9.xml" Id="R74189e229b7d4a0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测试 MAE (MW)</c:v>
          </c:tx>
          <c:spPr>
            <a:solidFill xmlns:a="http://schemas.openxmlformats.org/drawingml/2006/main">
              <a:srgbClr val="0F766E"/>
            </a:solidFill>
          </c:spPr>
          <c:cat>
            <c:strRef>
              <c:f>'Chart Data'!$A$2:$A$4</c:f>
              <c:strCache>
                <c:ptCount val="3"/>
                <c:pt idx="0">
                  <c:v>季节性朴素</c:v>
                </c:pt>
                <c:pt idx="1">
                  <c:v>随机森林</c:v>
                </c:pt>
                <c:pt idx="2">
                  <c:v>梯度提升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8760.67</c:v>
                </c:pt>
                <c:pt idx="1">
                  <c:v>1126.88</c:v>
                </c:pt>
                <c:pt idx="2">
                  <c:v>1019.87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测试 MAE (MW)</c:v>
          </c:tx>
          <c:spPr>
            <a:solidFill xmlns:a="http://schemas.openxmlformats.org/drawingml/2006/main">
              <a:srgbClr val="E7A73B"/>
            </a:solidFill>
          </c:spPr>
          <c:cat>
            <c:strRef>
              <c:f>'Chart Data'!$A$2:$A$5</c:f>
              <c:strCache>
                <c:ptCount val="4"/>
                <c:pt idx="0">
                  <c:v>完整模型</c:v>
                </c:pt>
                <c:pt idx="1">
                  <c:v>去新能源滞后</c:v>
                </c:pt>
                <c:pt idx="2">
                  <c:v>去滚动统计</c:v>
                </c:pt>
                <c:pt idx="3">
                  <c:v>仅日历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1019.87</c:v>
                </c:pt>
                <c:pt idx="1">
                  <c:v>1120.04</c:v>
                </c:pt>
                <c:pt idx="2">
                  <c:v>1035.03</c:v>
                </c:pt>
                <c:pt idx="3">
                  <c:v>9160.43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A13E8-FAA9-43D6-ACBE-D8F91CB6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B3B97-EE95-4080-904C-7B76EC76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35858-0215-4817-B826-B7177D60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76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GridPulse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23C47-DA73-4F7E-A7A4-5FBD9D6E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面向新能源波动的净负荷预测与候选运行风险研判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406FD-9E04-448D-A983-EBD38F25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科技创新组 | 公开数据回测原型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829F2-1D82-4DB2-9BBF-7386767B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数据、模型、风险规则与理论情景均可由脚本复现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52ec7536f41df"/>
          <a:stretch xmlns:a="http://schemas.openxmlformats.org/drawingml/2006/main"/>
        </p:blipFill>
        <p:spPr>
          <a:xfrm xmlns:a="http://schemas.openxmlformats.org/drawingml/2006/main">
            <a:off x="7524750" y="2401661"/>
            <a:ext cx="3905250" cy="16736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44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96421-C5C2-4943-8805-4599BEBA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工程问题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49028-8656-4AB9-BE71-CE202B1B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新能源出力变化会放大净负荷爬坡与峰值风险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D33A7-2D27-47F7-B900-909C2E31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74DFE-2FAE-4E24-B439-C6D38220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净负荷 = 总负荷 - 光伏发电 - 风电发电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42C59-149E-4251-BCBD-58ECA63E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GridPulse 关注三个问题：净负荷何时抬升、可再生能源何时快速下降、预测偏差何时持续扩大。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E9C19-285F-4EAA-AE94-33563FB1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系统定位：为园区或区域级能源管理提供可审计的风险研判参考。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0A781-693C-4894-8DC7-047CEB51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项目不声称实际部署、已实现节省或已确认故障。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BA719-2F2C-4724-B4C5-99BEF08D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2</a:t>
            </a:r>
          </a:p>
        </p:txBody>
      </p:sp>
    </p:spTree>
    <p:extLst>
      <p:ext uri="{BB962C8B-B14F-4D97-AF65-F5344CB8AC3E}">
        <p14:creationId xmlns:p14="http://schemas.microsoft.com/office/powerpoint/2010/main" val="1314044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D847C-B7E4-46E1-8334-D1ADE94A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数据与质量证据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F6AB1-48D4-4491-9E42-5EB18B33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Open Power System Data 德国小时级负荷、光伏与风电数据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73DCD-8A29-483B-9C26-5D6AAD6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7FD8F-5BFF-42AB-8A78-F3E621AE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4CD54-AD6D-48C1-A4A5-3E085F8E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50,400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E4984-8376-4859-A2E5-8F82D2B0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有效小时记录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0E339-43FD-4F71-B0D5-C790041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56189-FE21-4C6D-9AFE-6E5C8C18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2015-2020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755E2-00F1-4FAE-848B-9618FFD6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数据覆盖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A2028-BDF1-4203-8D8D-D6D85123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AB5AA-094B-4F45-BDF0-5DAA4490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77C50-826B-43C9-A8F7-3CAF46E9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重复时间戳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5ACD5-032E-44A3-B78A-A28E6E28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9D507-D48B-4502-AACB-97D532D1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0 MW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D9BA9-8CE1-4B30-8D04-99C68B1E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公式误差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a02866e594728"/>
          <a:stretch xmlns:a="http://schemas.openxmlformats.org/drawingml/2006/main"/>
        </p:blipFill>
        <p:spPr>
          <a:xfrm xmlns:a="http://schemas.openxmlformats.org/drawingml/2006/main">
            <a:off x="936625" y="3095625"/>
            <a:ext cx="6556375" cy="28098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B4B8E-3352-4820-9360-D95288A9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质量检查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409EE-5E5B-46ED-81F9-A9FEC3B7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时间频率：60 分钟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缺失时间点：0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负值：0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净负荷缺失：105 行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缺失值未静默填补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80C4D-1331-47C7-A640-6DCD8E3F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3</a:t>
            </a:r>
          </a:p>
        </p:txBody>
      </p:sp>
    </p:spTree>
    <p:extLst>
      <p:ext uri="{BB962C8B-B14F-4D97-AF65-F5344CB8AC3E}">
        <p14:creationId xmlns:p14="http://schemas.microsoft.com/office/powerpoint/2010/main" val="1980656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32C48-824C-40C6-AF2B-ADE8E633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因果预测设计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3D987-3762-483C-A4C1-C4CFC862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预测时刻仅使用前一小时及更早信息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D06F8-8EE0-4130-A999-69FAFDB9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BCD6D-3FF0-4092-B227-0C7DFC4E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34FF6-0194-432D-9800-F1BAA341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历史观测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071EE-3627-45F2-B541-3FAE7D27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负荷、光伏、风电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16069-0D6B-45A7-A802-E903A8CD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A02D1-8972-4A81-8C27-672E58B4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6E0E6-5353-43AF-B2E5-4C86B69F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历史特征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E1429-AE66-4075-A577-B7E0258F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1h、24h、168h 滞后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滚动统计、日历特征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E8D7C-94CB-4DAF-9D83-BA2923A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4E334-CA79-4E5A-9A79-0EEC7295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D1458-4AC0-446C-BAD4-530A09AE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模型比较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00626-A16E-40AD-A4D4-B1B8C338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季节性朴素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随机森林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梯度提升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C592C-C3B8-4E2A-88DB-5E9AB64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379CD-667E-4F3D-AA55-52C06770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995B8-261F-45DC-AC03-32038CF0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冻结评估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6B843-725F-4977-BEAE-0720115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70% 训练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10% 验证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20% 最终测试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EE2E2-6CE4-4EE0-ACCE-74FDA049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当前结果是一步超前因果回测。直接 24 小时预报需要未来可获得的天气或新能源预测输入。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A201F-D328-41B3-A447-3969A272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4</a:t>
            </a:r>
          </a:p>
        </p:txBody>
      </p:sp>
    </p:spTree>
    <p:extLst>
      <p:ext uri="{BB962C8B-B14F-4D97-AF65-F5344CB8AC3E}">
        <p14:creationId xmlns:p14="http://schemas.microsoft.com/office/powerpoint/2010/main" val="1109935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A1AD3-FD7F-4217-A860-ED0F05D1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EE0B2-7CD7-4DDA-8C65-F8499687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冻结测试期从 2019-08-09 21:00 UTC 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605EB-6F9B-4D11-8AFA-CA22F90D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4953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28219ad25a4cfd"/>
          </a:graphicData>
        </a:graphic>
      </p:graphicFrame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ace205e55474e"/>
          <a:stretch xmlns:a="http://schemas.openxmlformats.org/drawingml/2006/main"/>
        </p:blipFill>
        <p:spPr>
          <a:xfrm xmlns:a="http://schemas.openxmlformats.org/drawingml/2006/main">
            <a:off x="6096000" y="2092098"/>
            <a:ext cx="5238750" cy="224517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3A5C6-C3D2-481E-B7FE-A08CAF01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梯度提升测试 MAE：1,019.87 MW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64E99-9262-44E4-95BB-C780DCA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相对季节性朴素参考，MAE 下降 88.36%。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29629-FA7B-493B-AB37-EA9B8B0E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5</a:t>
            </a:r>
          </a:p>
        </p:txBody>
      </p:sp>
    </p:spTree>
    <p:extLst>
      <p:ext uri="{BB962C8B-B14F-4D97-AF65-F5344CB8AC3E}">
        <p14:creationId xmlns:p14="http://schemas.microsoft.com/office/powerpoint/2010/main" val="147549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BEAA3-7BF7-4EB7-9A71-BF6CDE58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候选运行风险筛查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FACDE-F7A0-46BB-9FD5-9185461D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所有阈值仅在验证期校准，再冻结应用到测试期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32FB4-D1FC-45BC-A10F-FC527D52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2C314-A47E-46B8-9F39-16B9BC9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5CB52-0DE9-4478-83D9-382364CA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峰值负荷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1BC80-EBAF-4463-95FE-2F1ECE6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预测净负荷 ≥ 55,406 MW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84E5D-4658-40E4-A993-40B3C674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430C2-41FB-4209-9137-E62D43C4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光伏骤降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AC08F-7765-416C-87FB-3DBB8983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小时变化 ≤ -4,243 MW/h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237CA-B677-45D1-B6C6-98A85793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EE957-5434-4A34-BF0B-777D8D08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持续偏差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B7E6B-66EB-41C2-A591-F53D3123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残差超过 2,937 MW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且持续 3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8196A-E902-477D-90D7-1EB9391D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测试期内 1,023 行至少触发一类候选风险。每个事件保留触发值、阈值与证据文本。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2CF5B-0311-43C2-AA08-3F68AAAC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注入压力测试仅验证规则对人工场景的响应，不代表真实故障检测准确率。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089BC-24BF-4437-9BF2-D97040E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6</a:t>
            </a:r>
          </a:p>
        </p:txBody>
      </p:sp>
    </p:spTree>
    <p:extLst>
      <p:ext uri="{BB962C8B-B14F-4D97-AF65-F5344CB8AC3E}">
        <p14:creationId xmlns:p14="http://schemas.microsoft.com/office/powerpoint/2010/main" val="589033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51827-DA3B-4996-B702-392CFBE1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消融证据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2DC73-D2A0-48EC-BCEB-C9AC1BE5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历史净负荷和新能源滞后信息均带来可测量增益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05B32-6EAC-4D12-B363-39EACEDE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5905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c230937c7e4ab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D2A00-D28E-4621-B5B0-98FFCEDD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关键观察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4FA65-2314-41DA-AC96-14273E97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3238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去除新能源滞后后</a:t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增加 100.17 MW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去除滚动统计后</a:t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增加 15.16 MW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仅日历模型显著退化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1699D-395C-423A-BC71-571962AD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结论限于当前数据集与冻结测试期。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0B083-F277-49BE-8CDC-59C77999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7</a:t>
            </a:r>
          </a:p>
        </p:txBody>
      </p:sp>
    </p:spTree>
    <p:extLst>
      <p:ext uri="{BB962C8B-B14F-4D97-AF65-F5344CB8AC3E}">
        <p14:creationId xmlns:p14="http://schemas.microsoft.com/office/powerpoint/2010/main" val="1057718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79890-87B8-4E90-8089-6229ECED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理论储能削峰情景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7CAB4-7F40-4F8C-AA4A-573DBFE8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小时级 SOC 约束下的确定性规则模拟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66D96-0390-4089-AFB7-9CBB734C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42950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57375"/>
                <a:gridCol w="1857375"/>
                <a:gridCol w="1857375"/>
                <a:gridCol w="1857375"/>
              </a:tblGrid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放电小时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 P95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全期最大值降幅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10,000 MWh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54,186.8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416.7 MW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 MWh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54,185.0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833.3 MW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30,000 MWh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54,185.0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1,250.0 MW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34F84-C979-4D50-91E0-F029E9B0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5AAD3-BFFC-43AD-A5F7-41DDF226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238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初始 SOC 50%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充放电效率 92%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容量/24h 放电上限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30% SOC 保留为应急储备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E6DD9-4DC9-417A-B324-67F96AF8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P95 与单点最高净负荷均下降。</a:t>
            </a:r>
          </a:p>
          <a:p xmlns:a="http://schemas.openxmlformats.org/drawingml/2006/main">
            <a:pPr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该策略是保守的日内能量分摊代理，不是实时调度优化或节省证明。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8F296-C371-4D79-8372-427BBA95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8</a:t>
            </a:r>
          </a:p>
        </p:txBody>
      </p:sp>
    </p:spTree>
    <p:extLst>
      <p:ext uri="{BB962C8B-B14F-4D97-AF65-F5344CB8AC3E}">
        <p14:creationId xmlns:p14="http://schemas.microsoft.com/office/powerpoint/2010/main" val="13744446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98976-382A-426C-84CB-A304F64D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系统原型与下一研究关口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C8A39-DCEF-48CD-8D71-3316CE9A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Streamlit MVP 已串联数据、预测、风险证据和规则化建议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9ADED-2EF9-4044-A6F6-90C5F14B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12B85-5DED-4DB1-B150-C6ADB4C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55583-81F4-4243-9B85-B3927ED9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476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数据概览</a:t>
            </a:r>
          </a:p>
          <a:p xmlns:a="http://schemas.openxmlformats.org/drawingml/2006/main">
            <a:pPr>
              <a:defRPr sz="17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预测回测</a:t>
            </a:r>
          </a:p>
          <a:p xmlns:a="http://schemas.openxmlformats.org/drawingml/2006/main">
            <a:pPr>
              <a:defRPr sz="17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风险事件详情</a:t>
            </a:r>
          </a:p>
          <a:p xmlns:a="http://schemas.openxmlformats.org/drawingml/2006/main">
            <a:pPr>
              <a:defRPr sz="17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特征解释</a:t>
            </a:r>
          </a:p>
          <a:p xmlns:a="http://schemas.openxmlformats.org/drawingml/2006/main">
            <a:pPr>
              <a:defRPr sz="17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理论调度建议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F2EB4-92D6-4E02-9E75-5CEBF2FC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已验证证据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1F057-443B-4DED-AB78-D2A8610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3429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滚动回测：5/5 窗口胜基线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均值：837.30 MW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测试区间覆盖率：86.92%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区间预警进入人工复核队列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E2A47-2C80-4D7E-9A0C-0DFB321A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下一关口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19790-7B61-4BD9-A2A0-3225175E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23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构造真正可在发布时获取的 24 小时输入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引入 SOC 保留与多时段峰值排序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增加跨区域验证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079C2-6609-4075-9440-B2E7C997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可复现路径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164E0-5651-4BDE-88D5-521B68D2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下载数据 → 质量检查 → 基线 → 模型 → 区间 → 风险 → 情景 → 仪表盘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50BFA-E64A-4A6A-B5A5-69C0A52B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提交前：核查匿名要求、数据许可与每一项结果的脚本可再生性。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DE3F7-97BC-49F5-BAA8-809BFD7B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9</a:t>
            </a:r>
          </a:p>
        </p:txBody>
      </p:sp>
    </p:spTree>
    <p:extLst>
      <p:ext uri="{BB962C8B-B14F-4D97-AF65-F5344CB8AC3E}">
        <p14:creationId xmlns:p14="http://schemas.microsoft.com/office/powerpoint/2010/main" val="1998839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2026-09-30T01:46:45.0380000Z</dcterms:created>
  <dcterms:modified xsi:type="dcterms:W3CDTF">2026-09-30T01:46:45.0380000Z</dcterms:modified>
</coreProperties>
</file>